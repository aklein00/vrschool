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38100c49742b1" /><Relationship Type="http://schemas.openxmlformats.org/officeDocument/2006/relationships/extended-properties" Target="/docProps/app.xml" Id="R10943232677c40ab" /><Relationship Type="http://schemas.openxmlformats.org/officeDocument/2006/relationships/officeDocument" Target="/ppt/presentation.xml" Id="Rfd56f71bb0c845bb" /></Relationships>
</file>

<file path=ppt/presentation.xml><?xml version="1.0" encoding="utf-8"?>
<p:presentation xmlns:p="http://schemas.openxmlformats.org/presentationml/2006/main">
  <p:sldMasterIdLst>
    <p:sldMasterId xmlns:r="http://schemas.openxmlformats.org/officeDocument/2006/relationships" id="2147483648" r:id="R00dbf72580144abb"/>
  </p:sldMasterIdLst>
  <p:notesMasterIdLst>
    <p:notesMasterId xmlns:r="http://schemas.openxmlformats.org/officeDocument/2006/relationships" r:id="R414095a678e14dbc"/>
  </p:notesMasterIdLst>
  <p:sldIdLst>
    <p:sldId xmlns:r="http://schemas.openxmlformats.org/officeDocument/2006/relationships" id="256" r:id="R67b4049a5f43460c"/>
    <p:sldId xmlns:r="http://schemas.openxmlformats.org/officeDocument/2006/relationships" id="257" r:id="Ra5db19a58c5746b2"/>
    <p:sldId xmlns:r="http://schemas.openxmlformats.org/officeDocument/2006/relationships" id="258" r:id="R095cdbc930984da1"/>
    <p:sldId xmlns:r="http://schemas.openxmlformats.org/officeDocument/2006/relationships" id="259" r:id="Raafc4e62d9b5458d"/>
    <p:sldId xmlns:r="http://schemas.openxmlformats.org/officeDocument/2006/relationships" id="260" r:id="R447b876a95104f14"/>
    <p:sldId xmlns:r="http://schemas.openxmlformats.org/officeDocument/2006/relationships" id="261" r:id="Rc57eec90ef7b4a55"/>
    <p:sldId xmlns:r="http://schemas.openxmlformats.org/officeDocument/2006/relationships" id="262" r:id="R5ccc8ba3dfd54f03"/>
    <p:sldId xmlns:r="http://schemas.openxmlformats.org/officeDocument/2006/relationships" id="263" r:id="Rdd5aa6adf44e40bf"/>
    <p:sldId xmlns:r="http://schemas.openxmlformats.org/officeDocument/2006/relationships" id="264" r:id="R2379d36a32d44255"/>
    <p:sldId xmlns:r="http://schemas.openxmlformats.org/officeDocument/2006/relationships" id="265" r:id="Rbc6b3a25596945f0"/>
    <p:sldId xmlns:r="http://schemas.openxmlformats.org/officeDocument/2006/relationships" id="266" r:id="R22cbddd7d5be4055"/>
    <p:sldId xmlns:r="http://schemas.openxmlformats.org/officeDocument/2006/relationships" id="267" r:id="R639aa6440abd4317"/>
    <p:sldId xmlns:r="http://schemas.openxmlformats.org/officeDocument/2006/relationships" id="268" r:id="R40209a843be046d8"/>
    <p:sldId xmlns:r="http://schemas.openxmlformats.org/officeDocument/2006/relationships" id="269" r:id="Ra34e0590a7734b47"/>
    <p:sldId xmlns:r="http://schemas.openxmlformats.org/officeDocument/2006/relationships" id="270" r:id="R5d6524f91a5941b6"/>
    <p:sldId xmlns:r="http://schemas.openxmlformats.org/officeDocument/2006/relationships" id="271" r:id="R3b498ff6017748f9"/>
    <p:sldId xmlns:r="http://schemas.openxmlformats.org/officeDocument/2006/relationships" id="272" r:id="Ra134bbea554241b8"/>
    <p:sldId xmlns:r="http://schemas.openxmlformats.org/officeDocument/2006/relationships" id="273" r:id="R68768a78584143b8"/>
    <p:sldId xmlns:r="http://schemas.openxmlformats.org/officeDocument/2006/relationships" id="274" r:id="R36c5fe7a360d4586"/>
    <p:sldId xmlns:r="http://schemas.openxmlformats.org/officeDocument/2006/relationships" id="275" r:id="R451bd8ca73bd4a37"/>
    <p:sldId xmlns:r="http://schemas.openxmlformats.org/officeDocument/2006/relationships" id="276" r:id="Rd00046536b3b47cb"/>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99ee7454834eff" /><Relationship Type="http://schemas.openxmlformats.org/officeDocument/2006/relationships/slideMaster" Target="/ppt/slideMasters/slideMaster1.xml" Id="R00dbf72580144abb" /><Relationship Type="http://schemas.openxmlformats.org/officeDocument/2006/relationships/notesMaster" Target="/ppt/notesMasters/notesMaster1.xml" Id="R414095a678e14dbc" /><Relationship Type="http://schemas.openxmlformats.org/officeDocument/2006/relationships/presProps" Target="/ppt/presProps.xml" Id="R6e5c15de4de54ad0" /><Relationship Type="http://schemas.openxmlformats.org/officeDocument/2006/relationships/tableStyles" Target="/ppt/tableStyles.xml" Id="R381348d7fb464172" /><Relationship Type="http://schemas.openxmlformats.org/officeDocument/2006/relationships/slide" Target="/ppt/slides/slide1.xml" Id="R67b4049a5f43460c" /><Relationship Type="http://schemas.openxmlformats.org/officeDocument/2006/relationships/slide" Target="/ppt/slides/slide2.xml" Id="Ra5db19a58c5746b2" /><Relationship Type="http://schemas.openxmlformats.org/officeDocument/2006/relationships/slide" Target="/ppt/slides/slide3.xml" Id="R095cdbc930984da1" /><Relationship Type="http://schemas.openxmlformats.org/officeDocument/2006/relationships/slide" Target="/ppt/slides/slide4.xml" Id="Raafc4e62d9b5458d" /><Relationship Type="http://schemas.openxmlformats.org/officeDocument/2006/relationships/slide" Target="/ppt/slides/slide5.xml" Id="R447b876a95104f14" /><Relationship Type="http://schemas.openxmlformats.org/officeDocument/2006/relationships/slide" Target="/ppt/slides/slide6.xml" Id="Rc57eec90ef7b4a55" /><Relationship Type="http://schemas.openxmlformats.org/officeDocument/2006/relationships/slide" Target="/ppt/slides/slide7.xml" Id="R5ccc8ba3dfd54f03" /><Relationship Type="http://schemas.openxmlformats.org/officeDocument/2006/relationships/slide" Target="/ppt/slides/slide8.xml" Id="Rdd5aa6adf44e40bf" /><Relationship Type="http://schemas.openxmlformats.org/officeDocument/2006/relationships/slide" Target="/ppt/slides/slide9.xml" Id="R2379d36a32d44255" /><Relationship Type="http://schemas.openxmlformats.org/officeDocument/2006/relationships/slide" Target="/ppt/slides/slide10.xml" Id="Rbc6b3a25596945f0" /><Relationship Type="http://schemas.openxmlformats.org/officeDocument/2006/relationships/slide" Target="/ppt/slides/slide11.xml" Id="R22cbddd7d5be4055" /><Relationship Type="http://schemas.openxmlformats.org/officeDocument/2006/relationships/slide" Target="/ppt/slides/slide12.xml" Id="R639aa6440abd4317" /><Relationship Type="http://schemas.openxmlformats.org/officeDocument/2006/relationships/slide" Target="/ppt/slides/slide13.xml" Id="R40209a843be046d8" /><Relationship Type="http://schemas.openxmlformats.org/officeDocument/2006/relationships/slide" Target="/ppt/slides/slide14.xml" Id="Ra34e0590a7734b47" /><Relationship Type="http://schemas.openxmlformats.org/officeDocument/2006/relationships/slide" Target="/ppt/slides/slide15.xml" Id="R5d6524f91a5941b6" /><Relationship Type="http://schemas.openxmlformats.org/officeDocument/2006/relationships/slide" Target="/ppt/slides/slide16.xml" Id="R3b498ff6017748f9" /><Relationship Type="http://schemas.openxmlformats.org/officeDocument/2006/relationships/slide" Target="/ppt/slides/slide17.xml" Id="Ra134bbea554241b8" /><Relationship Type="http://schemas.openxmlformats.org/officeDocument/2006/relationships/slide" Target="/ppt/slides/slide18.xml" Id="R68768a78584143b8" /><Relationship Type="http://schemas.openxmlformats.org/officeDocument/2006/relationships/slide" Target="/ppt/slides/slide19.xml" Id="R36c5fe7a360d4586" /><Relationship Type="http://schemas.openxmlformats.org/officeDocument/2006/relationships/slide" Target="/ppt/slides/slide20.xml" Id="R451bd8ca73bd4a37" /><Relationship Type="http://schemas.openxmlformats.org/officeDocument/2006/relationships/slide" Target="/ppt/slides/slide21.xml" Id="Rd00046536b3b47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1f2de19b9747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6ea715d94a4ec4" /><Relationship Type="http://schemas.openxmlformats.org/officeDocument/2006/relationships/notesMaster" Target="/ppt/notesMasters/notesMaster1.xml" Id="Rb5e8c68242e94a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cf1d026a9b490e" /><Relationship Type="http://schemas.openxmlformats.org/officeDocument/2006/relationships/notesMaster" Target="/ppt/notesMasters/notesMaster1.xml" Id="Re56d0796511d42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780abbd2834d6b" /><Relationship Type="http://schemas.openxmlformats.org/officeDocument/2006/relationships/notesMaster" Target="/ppt/notesMasters/notesMaster1.xml" Id="R4b0d33a8784545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fc941fee314551" /><Relationship Type="http://schemas.openxmlformats.org/officeDocument/2006/relationships/notesMaster" Target="/ppt/notesMasters/notesMaster1.xml" Id="Rbdc2d2f3176948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e182741bb04226" /><Relationship Type="http://schemas.openxmlformats.org/officeDocument/2006/relationships/notesMaster" Target="/ppt/notesMasters/notesMaster1.xml" Id="Ra134d298d88e4f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af55d1063b47fb" /><Relationship Type="http://schemas.openxmlformats.org/officeDocument/2006/relationships/notesMaster" Target="/ppt/notesMasters/notesMaster1.xml" Id="R3f2721d194fb4a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79f48a80884860" /><Relationship Type="http://schemas.openxmlformats.org/officeDocument/2006/relationships/notesMaster" Target="/ppt/notesMasters/notesMaster1.xml" Id="R40f61a97634b45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125e44edac423e" /><Relationship Type="http://schemas.openxmlformats.org/officeDocument/2006/relationships/notesMaster" Target="/ppt/notesMasters/notesMaster1.xml" Id="R75b3db0ef91d4c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a9b13bc24a4ccf" /><Relationship Type="http://schemas.openxmlformats.org/officeDocument/2006/relationships/notesMaster" Target="/ppt/notesMasters/notesMaster1.xml" Id="R37bd7a3bbf5f4b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c81811916f4289" /><Relationship Type="http://schemas.openxmlformats.org/officeDocument/2006/relationships/notesMaster" Target="/ppt/notesMasters/notesMaster1.xml" Id="R8066126704aa49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2fca6276624409" /><Relationship Type="http://schemas.openxmlformats.org/officeDocument/2006/relationships/notesMaster" Target="/ppt/notesMasters/notesMaster1.xml" Id="R0339fce8cc9b49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a0f45afa074771" /><Relationship Type="http://schemas.openxmlformats.org/officeDocument/2006/relationships/notesMaster" Target="/ppt/notesMasters/notesMaster1.xml" Id="R3eefc827feae49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b821e34bcd455d" /><Relationship Type="http://schemas.openxmlformats.org/officeDocument/2006/relationships/notesMaster" Target="/ppt/notesMasters/notesMaster1.xml" Id="R501c7ea13af04c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6dfaf0cbc44ec" /><Relationship Type="http://schemas.openxmlformats.org/officeDocument/2006/relationships/notesMaster" Target="/ppt/notesMasters/notesMaster1.xml" Id="Raab978f6383c49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d746f4f645447d" /><Relationship Type="http://schemas.openxmlformats.org/officeDocument/2006/relationships/notesMaster" Target="/ppt/notesMasters/notesMaster1.xml" Id="Rd0930bad32204c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40cd71983e4c8a" /><Relationship Type="http://schemas.openxmlformats.org/officeDocument/2006/relationships/notesMaster" Target="/ppt/notesMasters/notesMaster1.xml" Id="Rd0514507a25e46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d0eb8925f34335" /><Relationship Type="http://schemas.openxmlformats.org/officeDocument/2006/relationships/notesMaster" Target="/ppt/notesMasters/notesMaster1.xml" Id="R964b1a27d0a04e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380e53363c4c40" /><Relationship Type="http://schemas.openxmlformats.org/officeDocument/2006/relationships/notesMaster" Target="/ppt/notesMasters/notesMaster1.xml" Id="R049c195954db47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0409e473394b32" /><Relationship Type="http://schemas.openxmlformats.org/officeDocument/2006/relationships/notesMaster" Target="/ppt/notesMasters/notesMaster1.xml" Id="R60dfb7e580f94a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10ccb6cbc64f28" /><Relationship Type="http://schemas.openxmlformats.org/officeDocument/2006/relationships/notesMaster" Target="/ppt/notesMasters/notesMaster1.xml" Id="R6bc9acff9cc549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cc4837a53f42c6" /><Relationship Type="http://schemas.openxmlformats.org/officeDocument/2006/relationships/notesMaster" Target="/ppt/notesMasters/notesMaster1.xml" Id="R00d442d832cd40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Teacher-facing creative proposal. Roster: /Users/arthurklein/Documents/Work/2026Nov/VR HS/docs/teachers.md. 13 faculty members, 14 proposed speaking voices because the ettin has two alternating heads. Preserve roster genders. Lesson timing and activities are design proposals.</a:t>
            </a:r>
          </a:p>
          <a:p xmlns:a="http://schemas.openxmlformats.org/drawingml/2006/main">
            <a:r>
              <a:t>Artwork: current individual black-and-white faculty drawings, with Language Arts and PE female (she/her) and Art non-binary (they/them).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is a creative judgment based on the prompt-based design workflow. Checked 29 October 2026. Sources: https://elevenlabs.io/docs/eleven-creative/voices/voice-design (prompting, three candidates, saved slots, quality variability); https://elevenlabs.io/pricing (Creator standard monthly $22, 30 custom voice slots in plan comparison); https://elevenlabs.io/docs/overview/administration/billing (commercial rights on paid plans). Prices exclude taxes. No purchase or voice account changes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performance and comfort direction, not a claim about an implemented rig or application. Creature silhouettes follow docs/art/concept-direction.md. These are artistic recommendations. Validate animations and interaction choices in the eventual VR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 First-day math starter: use n=1,2,3 to build outputs 5,7,9. Invite students to explain why each input step adds two to the output. Accept words, tiles, a table or algebra. This is an informal algebra warm-up, not a placement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The source locations prose uses a conflicting male pronoun. This proposal follows the teacher table and keeps History female.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texture subtle enough for clear speech.</a:t>
            </a:r>
          </a:p>
          <a:p xmlns:a="http://schemas.openxmlformats.org/drawingml/2006/main">
            <a:r>
              <a:t>Current character canon: This teacher is female and uses she/her.</a:t>
            </a:r>
          </a:p>
          <a:p xmlns:a="http://schemas.openxmlformats.org/drawingml/2006/main">
            <a:r>
              <a:t>Full voice prompt from Character Register v1.2: Native English, General American. Female brass dragon, mature adult. Studio quality. A towering, long-necked dragon with a capacious chest: a resonant low alto with bright brassy overtones and a light, dry grain at the back of the throat. Spacious vowels and flowing, rising story phrases make her scale audible. A sociable, generous storyteller who savors a good anecdote. Shape key words with theatrical warmth, then lower the intensity when listening. Keep ordinary instructions concise and fully articulated.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texture subtle enough for clear speech.</a:t>
            </a:r>
          </a:p>
          <a:p xmlns:a="http://schemas.openxmlformats.org/drawingml/2006/main">
            <a:r>
              <a:t>Current character canon: This teacher is female and uses she/her.</a:t>
            </a:r>
          </a:p>
          <a:p xmlns:a="http://schemas.openxmlformats.org/drawingml/2006/main">
            <a:r>
              <a:t>Full voice prompt from Character Register v1.2: Native English, General American. Female gnoll, adult. Studio quality. A tall, lean, hyena-like coach with a warm middle register, a forward muzzle-shaped resonance and a dry, pleasantly ragged rasp. Short energetic phrase attacks and crisp rhythmic counting suggest her athletic body ready to move. A good-humored coach who becomes gentler during reassurance. Allow an occasional small breathy chuckle between thoughts. Keep words open and clear, the pace responsive, and encouragement at normal classroom volume.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texture subtle enough for clear speech.</a:t>
            </a:r>
          </a:p>
          <a:p xmlns:a="http://schemas.openxmlformats.org/drawingml/2006/main">
            <a:r>
              <a:t>Current character canon: Art is non-binary and uses they/them.</a:t>
            </a:r>
          </a:p>
          <a:p xmlns:a="http://schemas.openxmlformats.org/drawingml/2006/main">
            <a:r>
              <a:t>Full voice prompt from Character Register v1.2: Native English, General American. Non-binary oobleck, adult; they/them pronouns. Studio quality. A medium-sized shapeshifting slime whose light middle register has a soft, rounded, gently viscous texture. Vowels stretch slightly and settle with small elastic pitch slides, while consonants remain distinct. Their fluid body suggests a voice that can reshape a phrase as an idea occurs. A playful studio teacher, easily delighted by experiments. Use buoyant melodic changes and warm, gentle phrase endings. Keep the elasticity restrained and the teaching words easy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individual black-and-white faculty drawings based on the artist’s sketch references, in assets/concepts/2026-10-29/individual-line-drawings/faculty/. Voice, age, dialect, pace, movement, dialogue and first-day hook are proposed creative choices. Voice prompts follow https://elevenlabs.io/docs/eleven-creative/voices/voice-design. English emphasizes sentence craft. Language Arts emphasizes audience, storytelling and communication. The headmaster remains female, consistent with the roster.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lesson proposal based on the VRSchool faculty concept. Assumes a small-group pilot with a facilitator in the physical room. The repository currently contains a concept, not a playable application. Pause, Help and Undo are proposed labels: map them to the actual prototype before teaching. Use a screen-based teacher demonstration if these interactions do not exist. Suggested timing is flexible, not a universal headset exposure limit. Keep the same learning goals in all participation modes. Materials: headsets if available, display, campus map with route lengths and contour lines, practice cube or moveable screen object, sentence tiles, color/shape tiles, paper or digital passport and exit slip.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5+8+5+16+8+6+2=50 minutes. VR blocks total 24 minutes, with a five-minute off-screen break between. Shorten blocks, add breaks or use the screen version when learners need it. During the station block, use three groups. Each spends four minutes at Geography, English and Art, with four minutes total for moving and regrouping. If only one shared device or one facilitator is available, teach the same stations sequentially on a screen. Do not require all 12 subject teachers to appear in the first session. Faculty-file teaching hooks supply optional substitutions.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activities for freshman belonging and baseline observation, not graded subject placement. Geography route card example: route A 300 m with closely spaced contour lines, route B 450 m with wider spacing. Explain what contour spacing means before asking for a choice. Allow more than one defensible route depending on the traveler. English success depends on explaining a word choice, not spelling accuracy. Art success depends on intention, not realism. Students may describe a fictional feeling rather than disclose their own. Faculty-file hooks provide simple alternatives for other subjects.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facilitator script and formative assessment. The real-world facilitator retains responsibility for supporting students in the physical room. This is a pilot lesson plan, not a clinical protocol. Extend the final check if a student needs time. The prompt about questions may use an anonymous or written response. Example follow-up: rehearse Help privately at the beginning of the next session. Use each teacher’s dossier starter as an optional subject-specific warm-up on later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primary sources: /Users/arthurklein/Documents/Work/2026Nov/VR HS/docs/teachers.md; /Users/arthurklein/Documents/Work/2026Nov/VR HS/docs/art/concept-direction.md. Images: assets/concepts/2026-10-29/individual-line-drawings/faculty/. External primary sources checked 2026-10-29: https://elevenlabs.io/docs/eleven-creative/voices/voice-design ; https://elevenlabs.io/pricing ; https://elevenlabs.io/docs/overview/administration/billing . The teacher table resolves gender continuity where classroom prose differs. Creative proposals are not externally sourced facts.</a:t>
            </a:r>
          </a:p>
          <a:p xmlns:a="http://schemas.openxmlformats.org/drawingml/2006/main">
            <a:r>
              <a:t>Current character canon, 29 October 2026: Language Arts and Physical Education are female and use she/her. Art is non-binary and uses they/them.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e6f7badeec47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92ab294b1245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37cf3f808542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ca7efe110940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e1eba8324443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2c676449c140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933DF7-7E6D-4B4A-AD4A-BACCD287FC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F2FDFF-7C12-4F79-A9D2-EF9FF7585F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5D4250-D787-495D-B7CC-960A2C8CEF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7434BD-C42F-4AF8-AE19-6855E4C17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4464E4-D555-411A-88C6-89771B6A8C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7FFBD5-D1F9-4638-8980-9464D659D7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CD5706-074A-4181-8570-C2125B66F6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FFD610-94D7-4C80-9DE8-4B53A87445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C2FC1-F6D1-4D2D-A476-59DBDEC130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0C1592-A95C-42FC-94E3-982B4AEE82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37643b340a4dcd" /><Relationship Type="http://schemas.openxmlformats.org/officeDocument/2006/relationships/slideLayout" Target="/ppt/slideLayouts/slideLayout1.xml" Id="R7d993ec2772f4d3e" /><Relationship Type="http://schemas.openxmlformats.org/officeDocument/2006/relationships/slideLayout" Target="/ppt/slideLayouts/slideLayout2.xml" Id="R32c906e3553645e7" /><Relationship Type="http://schemas.openxmlformats.org/officeDocument/2006/relationships/slideLayout" Target="/ppt/slideLayouts/slideLayout3.xml" Id="R13256a09a5514ea0" /><Relationship Type="http://schemas.openxmlformats.org/officeDocument/2006/relationships/slideLayout" Target="/ppt/slideLayouts/slideLayout4.xml" Id="R8ea61c392e704fb5" /><Relationship Type="http://schemas.openxmlformats.org/officeDocument/2006/relationships/slideLayout" Target="/ppt/slideLayouts/slideLayout5.xml" Id="R8761438c26324bab" /><Relationship Type="http://schemas.openxmlformats.org/officeDocument/2006/relationships/slideLayout" Target="/ppt/slideLayouts/slideLayout6.xml" Id="Rc044f004075f48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993ec2772f4d3e"/>
    <p:sldLayoutId xmlns:r="http://schemas.openxmlformats.org/officeDocument/2006/relationships" id="2147483650" r:id="R32c906e3553645e7"/>
    <p:sldLayoutId xmlns:r="http://schemas.openxmlformats.org/officeDocument/2006/relationships" id="2147483651" r:id="R13256a09a5514ea0"/>
    <p:sldLayoutId xmlns:r="http://schemas.openxmlformats.org/officeDocument/2006/relationships" id="2147483652" r:id="R8ea61c392e704fb5"/>
    <p:sldLayoutId xmlns:r="http://schemas.openxmlformats.org/officeDocument/2006/relationships" id="2147483653" r:id="R8761438c26324bab"/>
    <p:sldLayoutId xmlns:r="http://schemas.openxmlformats.org/officeDocument/2006/relationships" id="2147483654" r:id="Rc044f004075f48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7d158e4d7d46b5" /><Relationship Type="http://schemas.openxmlformats.org/officeDocument/2006/relationships/image" Target="/ppt/media/image.png" Id="Re2fe5e92b8624cd6" /><Relationship Type="http://schemas.openxmlformats.org/officeDocument/2006/relationships/image" Target="/ppt/media/image2.png" Id="R3a88e000532147a3" /><Relationship Type="http://schemas.openxmlformats.org/officeDocument/2006/relationships/image" Target="/ppt/media/image3.png" Id="Rba05b12b058c4376" /><Relationship Type="http://schemas.openxmlformats.org/officeDocument/2006/relationships/image" Target="/ppt/media/image4.png" Id="Rff74ea8001b44446" /><Relationship Type="http://schemas.openxmlformats.org/officeDocument/2006/relationships/image" Target="/ppt/media/image5.png" Id="R94b757613d0f4bdb" /><Relationship Type="http://schemas.openxmlformats.org/officeDocument/2006/relationships/image" Target="/ppt/media/image6.png" Id="R7891b6862bdb497b" /><Relationship Type="http://schemas.openxmlformats.org/officeDocument/2006/relationships/image" Target="/ppt/media/image7.png" Id="R9e0f79c0d6254a9b" /><Relationship Type="http://schemas.openxmlformats.org/officeDocument/2006/relationships/image" Target="/ppt/media/image8.png" Id="R2988a563a03f4a2b" /><Relationship Type="http://schemas.openxmlformats.org/officeDocument/2006/relationships/image" Target="/ppt/media/image9.png" Id="Rfaf590d8114b44ae" /><Relationship Type="http://schemas.openxmlformats.org/officeDocument/2006/relationships/image" Target="/ppt/media/image10.png" Id="R92024368644d461a" /><Relationship Type="http://schemas.openxmlformats.org/officeDocument/2006/relationships/image" Target="/ppt/media/image11.png" Id="R8158b035e43f47e6" /><Relationship Type="http://schemas.openxmlformats.org/officeDocument/2006/relationships/image" Target="/ppt/media/image12.png" Id="R211e82bfdefa477e" /><Relationship Type="http://schemas.openxmlformats.org/officeDocument/2006/relationships/image" Target="/ppt/media/image13.png" Id="Re24d630f1ae048a3" /><Relationship Type="http://schemas.openxmlformats.org/officeDocument/2006/relationships/notesSlide" Target="/ppt/notesSlides/notesSlide1.xml" Id="R69f6cd50088b47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19ee36883e4cb9" /><Relationship Type="http://schemas.openxmlformats.org/officeDocument/2006/relationships/notesSlide" Target="/ppt/notesSlides/notesSlide2.xml" Id="Ra5f6b9a2c74a48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6e10e0e67f46ba" /><Relationship Type="http://schemas.openxmlformats.org/officeDocument/2006/relationships/notesSlide" Target="/ppt/notesSlides/notesSlide3.xml" Id="Rc8184ce9fe664f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6ca7aa08bf41d6" /><Relationship Type="http://schemas.openxmlformats.org/officeDocument/2006/relationships/image" Target="/ppt/media/image14.png" Id="Re564db92d3844ad6" /><Relationship Type="http://schemas.openxmlformats.org/officeDocument/2006/relationships/notesSlide" Target="/ppt/notesSlides/notesSlide4.xml" Id="Rd95f27cd6c164a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fc94fe80444d82" /><Relationship Type="http://schemas.openxmlformats.org/officeDocument/2006/relationships/image" Target="/ppt/media/image15.png" Id="R6be5e5ccc17f4137" /><Relationship Type="http://schemas.openxmlformats.org/officeDocument/2006/relationships/notesSlide" Target="/ppt/notesSlides/notesSlide5.xml" Id="Recceacc41eab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a8c7cd60b644ca" /><Relationship Type="http://schemas.openxmlformats.org/officeDocument/2006/relationships/image" Target="/ppt/media/image16.png" Id="R2062e2c00f5848e3" /><Relationship Type="http://schemas.openxmlformats.org/officeDocument/2006/relationships/notesSlide" Target="/ppt/notesSlides/notesSlide6.xml" Id="Rdbad43062b9b42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8b9614f47a4ea0" /><Relationship Type="http://schemas.openxmlformats.org/officeDocument/2006/relationships/image" Target="/ppt/media/image17.png" Id="R0ef7e0d556494fed" /><Relationship Type="http://schemas.openxmlformats.org/officeDocument/2006/relationships/notesSlide" Target="/ppt/notesSlides/notesSlide7.xml" Id="Rc667e0597edc40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f94a2e0ff64c91" /><Relationship Type="http://schemas.openxmlformats.org/officeDocument/2006/relationships/image" Target="/ppt/media/image18.png" Id="R1e5a5a5692804c87" /><Relationship Type="http://schemas.openxmlformats.org/officeDocument/2006/relationships/notesSlide" Target="/ppt/notesSlides/notesSlide8.xml" Id="R933419df19c648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adc354e1e04651" /><Relationship Type="http://schemas.openxmlformats.org/officeDocument/2006/relationships/image" Target="/ppt/media/image19.png" Id="Rce76b8773b964811" /><Relationship Type="http://schemas.openxmlformats.org/officeDocument/2006/relationships/notesSlide" Target="/ppt/notesSlides/notesSlide9.xml" Id="Rdc4e449fe3f946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d20958f19a4b99" /><Relationship Type="http://schemas.openxmlformats.org/officeDocument/2006/relationships/image" Target="/ppt/media/image20.png" Id="R2b55c0e6bcd74e9b" /><Relationship Type="http://schemas.openxmlformats.org/officeDocument/2006/relationships/notesSlide" Target="/ppt/notesSlides/notesSlide10.xml" Id="Rc824f47aa8be48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272e43ba7e4d64" /><Relationship Type="http://schemas.openxmlformats.org/officeDocument/2006/relationships/image" Target="/ppt/media/image21.png" Id="R275f955fa25f4e40" /><Relationship Type="http://schemas.openxmlformats.org/officeDocument/2006/relationships/notesSlide" Target="/ppt/notesSlides/notesSlide11.xml" Id="Rc793ade480ed4e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8086654e4634bb0" /><Relationship Type="http://schemas.openxmlformats.org/officeDocument/2006/relationships/image" Target="/ppt/media/image22.png" Id="Rdda111b87b0a462c" /><Relationship Type="http://schemas.openxmlformats.org/officeDocument/2006/relationships/notesSlide" Target="/ppt/notesSlides/notesSlide12.xml" Id="R08a8ad963ec349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b2aee2b32b467d" /><Relationship Type="http://schemas.openxmlformats.org/officeDocument/2006/relationships/image" Target="/ppt/media/image23.png" Id="Rca39a700db774fac" /><Relationship Type="http://schemas.openxmlformats.org/officeDocument/2006/relationships/notesSlide" Target="/ppt/notesSlides/notesSlide13.xml" Id="Rd7991cb955c648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996c67068740c9" /><Relationship Type="http://schemas.openxmlformats.org/officeDocument/2006/relationships/image" Target="/ppt/media/image24.png" Id="R7c78eb8f47e6426e" /><Relationship Type="http://schemas.openxmlformats.org/officeDocument/2006/relationships/notesSlide" Target="/ppt/notesSlides/notesSlide14.xml" Id="R98a60126aca74a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5ec957491644ab" /><Relationship Type="http://schemas.openxmlformats.org/officeDocument/2006/relationships/image" Target="/ppt/media/image25.png" Id="R0c57a54ac1dc4091" /><Relationship Type="http://schemas.openxmlformats.org/officeDocument/2006/relationships/notesSlide" Target="/ppt/notesSlides/notesSlide15.xml" Id="R81c83158169e40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70ddc48e43400c" /><Relationship Type="http://schemas.openxmlformats.org/officeDocument/2006/relationships/image" Target="/ppt/media/image26.png" Id="R120d0b3f774c4d99" /><Relationship Type="http://schemas.openxmlformats.org/officeDocument/2006/relationships/notesSlide" Target="/ppt/notesSlides/notesSlide16.xml" Id="R7efbfaf18ccc4f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b3d33de0f924098" /><Relationship Type="http://schemas.openxmlformats.org/officeDocument/2006/relationships/notesSlide" Target="/ppt/notesSlides/notesSlide17.xml" Id="R5921505bac2e48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6d6fd28b634382" /><Relationship Type="http://schemas.openxmlformats.org/officeDocument/2006/relationships/notesSlide" Target="/ppt/notesSlides/notesSlide18.xml" Id="R8464b28f39c946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8dbfb803ae4bfb" /><Relationship Type="http://schemas.openxmlformats.org/officeDocument/2006/relationships/notesSlide" Target="/ppt/notesSlides/notesSlide19.xml" Id="Rcd7e538f0ba349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f4509cf2c44c07" /><Relationship Type="http://schemas.openxmlformats.org/officeDocument/2006/relationships/notesSlide" Target="/ppt/notesSlides/notesSlide20.xml" Id="Rd0e6869a9c61434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8b0cf26c6f04b28" /><Relationship Type="http://schemas.openxmlformats.org/officeDocument/2006/relationships/notesSlide" Target="/ppt/notesSlides/notesSlide21.xml" Id="Rbdc9af615d424df1" /></Relationships>
</file>

<file path=ppt/slides/slide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2D5CADAD-D346-4D7B-B0A7-FB1A971EC1FD}"/>
              </a:ext>
            </a:extLst>
          </p:cNvPr>
          <p:cNvSpPr>
            <a:spLocks xmlns:a="http://schemas.openxmlformats.org/drawingml/2006/main" noGrp="1"/>
          </p:cNvSpPr>
          <p:nvPr/>
        </p:nvSpPr>
        <p:spPr>
          <a:xfrm xmlns:a="http://schemas.openxmlformats.org/drawingml/2006/main">
            <a:off x="571500" y="8524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8EAD0"/>
                </a:solidFill>
                <a:latin typeface="Barlow Condensed"/>
                <a:ea typeface="Barlow Condensed"/>
                <a:cs typeface="Barlow Condensed"/>
              </a:defRPr>
            </a:defPPr>
            <a:lvl1pPr>
              <a:buNone/>
              <a:defRPr sz="4275" b="1">
                <a:solidFill>
                  <a:srgbClr val="F8EAD0"/>
                </a:solidFill>
                <a:latin typeface="Barlow Condensed"/>
                <a:ea typeface="Barlow Condensed"/>
                <a:cs typeface="Barlow Condensed"/>
              </a:defRPr>
            </a:lvl1pPr>
            <a:lvl2pPr>
              <a:buNone/>
              <a:defRPr sz="4275" b="1">
                <a:solidFill>
                  <a:srgbClr val="F8EAD0"/>
                </a:solidFill>
                <a:latin typeface="Barlow Condensed"/>
                <a:ea typeface="Barlow Condensed"/>
                <a:cs typeface="Barlow Condensed"/>
              </a:defRPr>
            </a:lvl2pPr>
            <a:lvl3pPr>
              <a:buNone/>
              <a:defRPr sz="4275" b="1">
                <a:solidFill>
                  <a:srgbClr val="F8EAD0"/>
                </a:solidFill>
                <a:latin typeface="Barlow Condensed"/>
                <a:ea typeface="Barlow Condensed"/>
                <a:cs typeface="Barlow Condensed"/>
              </a:defRPr>
            </a:lvl3pPr>
            <a:lvl4pPr>
              <a:buNone/>
              <a:defRPr sz="4275" b="1">
                <a:solidFill>
                  <a:srgbClr val="F8EAD0"/>
                </a:solidFill>
                <a:latin typeface="Barlow Condensed"/>
                <a:ea typeface="Barlow Condensed"/>
                <a:cs typeface="Barlow Condensed"/>
              </a:defRPr>
            </a:lvl4pPr>
            <a:lvl5pPr>
              <a:buNone/>
              <a:defRPr sz="4275" b="1">
                <a:solidFill>
                  <a:srgbClr val="F8EAD0"/>
                </a:solidFill>
                <a:latin typeface="Barlow Condensed"/>
                <a:ea typeface="Barlow Condensed"/>
                <a:cs typeface="Barlow Condensed"/>
              </a:defRPr>
            </a:lvl5pPr>
            <a:lvl6pPr>
              <a:buNone/>
              <a:defRPr sz="4275" b="1">
                <a:solidFill>
                  <a:srgbClr val="F8EAD0"/>
                </a:solidFill>
                <a:latin typeface="Barlow Condensed"/>
                <a:ea typeface="Barlow Condensed"/>
                <a:cs typeface="Barlow Condensed"/>
              </a:defRPr>
            </a:lvl6pPr>
            <a:lvl7pPr>
              <a:buNone/>
              <a:defRPr sz="4275" b="1">
                <a:solidFill>
                  <a:srgbClr val="F8EAD0"/>
                </a:solidFill>
                <a:latin typeface="Barlow Condensed"/>
                <a:ea typeface="Barlow Condensed"/>
                <a:cs typeface="Barlow Condensed"/>
              </a:defRPr>
            </a:lvl7pPr>
            <a:lvl8pPr>
              <a:buNone/>
              <a:defRPr sz="4275" b="1">
                <a:solidFill>
                  <a:srgbClr val="F8EAD0"/>
                </a:solidFill>
                <a:latin typeface="Barlow Condensed"/>
                <a:ea typeface="Barlow Condensed"/>
                <a:cs typeface="Barlow Condensed"/>
              </a:defRPr>
            </a:lvl8pPr>
            <a:lvl9pPr>
              <a:buNone/>
              <a:defRPr sz="4275" b="1">
                <a:solidFill>
                  <a:srgbClr val="F8EAD0"/>
                </a:solidFill>
                <a:latin typeface="Barlow Condensed"/>
                <a:ea typeface="Barlow Condensed"/>
                <a:cs typeface="Barlow Condensed"/>
              </a:defRPr>
            </a:lvl9pPr>
          </a:lstStyle>
          <a:p xmlns:a="http://schemas.openxmlformats.org/drawingml/2006/main">
            <a:pPr>
              <a:lnSpc>
                <a:spcPct val="108000"/>
              </a:lnSpc>
              <a:buNone/>
              <a:defRPr sz="4275" b="1">
                <a:solidFill>
                  <a:srgbClr val="F8EAD0"/>
                </a:solidFill>
                <a:latin typeface="Barlow Condensed"/>
                <a:ea typeface="Barlow Condensed"/>
                <a:cs typeface="Barlow Condensed"/>
              </a:defRPr>
            </a:pPr>
            <a:r>
              <a:rPr sz="4275" b="1">
                <a:solidFill>
                  <a:srgbClr val="F8EAD0"/>
                </a:solidFill>
                <a:latin typeface="Barlow Condensed"/>
                <a:ea typeface="Barlow Condensed"/>
                <a:cs typeface="Barlow Condensed"/>
              </a:rPr>
              <a:t>FACULTY DOSSIERS</a:t>
            </a:r>
          </a:p>
        </p:txBody>
      </p:sp>
      <p:sp>
        <p:nvSpPr>
          <p:cNvPr id="4" name="cover-subtitle">
            <a:extLst xmlns:a="http://schemas.openxmlformats.org/drawingml/2006/main">
              <a:ext uri="{FF2B5EF4-FFF2-40B4-BE49-F238E27FC236}">
                <a16:creationId xmlns:a16="http://schemas.microsoft.com/office/drawing/2014/main" id="{F0264CC7-ACB0-4310-9FF6-6ECB622E8606}"/>
              </a:ext>
            </a:extLst>
          </p:cNvPr>
          <p:cNvSpPr>
            <a:spLocks xmlns:a="http://schemas.openxmlformats.org/drawingml/2006/main" noGrp="1"/>
          </p:cNvSpPr>
          <p:nvPr/>
        </p:nvSpPr>
        <p:spPr>
          <a:xfrm xmlns:a="http://schemas.openxmlformats.org/drawingml/2006/main">
            <a:off x="571500" y="9153525"/>
            <a:ext cx="1390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VOICE   /   MOVEMENT   /   TEST DIALOGUE   /   FIRST DAY</a:t>
            </a:r>
          </a:p>
        </p:txBody>
      </p:sp>
      <p:sp>
        <p:nvSpPr>
          <p:cNvPr id="5" name="">
            <a:extLst xmlns:a="http://schemas.openxmlformats.org/drawingml/2006/main">
              <a:ext uri="{FF2B5EF4-FFF2-40B4-BE49-F238E27FC236}">
                <a16:creationId xmlns:a16="http://schemas.microsoft.com/office/drawing/2014/main" id="{55413A59-A478-4D55-BC3B-89F3BEC84A0D}"/>
              </a:ext>
            </a:extLst>
          </p:cNvPr>
          <p:cNvSpPr>
            <a:spLocks xmlns:a="http://schemas.openxmlformats.org/drawingml/2006/main" noGrp="1"/>
          </p:cNvSpPr>
          <p:nvPr/>
        </p:nvSpPr>
        <p:spPr>
          <a:xfrm xmlns:a="http://schemas.openxmlformats.org/drawingml/2006/main">
            <a:off x="1376363" y="0"/>
            <a:ext cx="12487275" cy="83248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B4ACF3-01FC-4361-8B13-90E9747461CF}"/>
              </a:ext>
            </a:extLst>
          </p:cNvPr>
          <p:cNvSpPr>
            <a:spLocks xmlns:a="http://schemas.openxmlformats.org/drawingml/2006/main" noGrp="1"/>
          </p:cNvSpPr>
          <p:nvPr/>
        </p:nvSpPr>
        <p:spPr>
          <a:xfrm xmlns:a="http://schemas.openxmlformats.org/drawingml/2006/main">
            <a:off x="1757363" y="228600"/>
            <a:ext cx="117252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3600" b="1">
                <a:solidFill>
                  <a:srgbClr val="1C303E"/>
                </a:solidFill>
                <a:latin typeface="Barlow Condensed"/>
                <a:ea typeface="Barlow Condensed"/>
                <a:cs typeface="Barlow Condensed"/>
              </a:defRPr>
            </a:defPPr>
            <a:lvl1pPr algn="ctr">
              <a:buNone/>
              <a:defRPr sz="3600" b="1">
                <a:solidFill>
                  <a:srgbClr val="1C303E"/>
                </a:solidFill>
                <a:latin typeface="Barlow Condensed"/>
                <a:ea typeface="Barlow Condensed"/>
                <a:cs typeface="Barlow Condensed"/>
              </a:defRPr>
            </a:lvl1pPr>
            <a:lvl2pPr algn="ctr">
              <a:buNone/>
              <a:defRPr sz="3600" b="1">
                <a:solidFill>
                  <a:srgbClr val="1C303E"/>
                </a:solidFill>
                <a:latin typeface="Barlow Condensed"/>
                <a:ea typeface="Barlow Condensed"/>
                <a:cs typeface="Barlow Condensed"/>
              </a:defRPr>
            </a:lvl2pPr>
            <a:lvl3pPr algn="ctr">
              <a:buNone/>
              <a:defRPr sz="3600" b="1">
                <a:solidFill>
                  <a:srgbClr val="1C303E"/>
                </a:solidFill>
                <a:latin typeface="Barlow Condensed"/>
                <a:ea typeface="Barlow Condensed"/>
                <a:cs typeface="Barlow Condensed"/>
              </a:defRPr>
            </a:lvl3pPr>
            <a:lvl4pPr algn="ctr">
              <a:buNone/>
              <a:defRPr sz="3600" b="1">
                <a:solidFill>
                  <a:srgbClr val="1C303E"/>
                </a:solidFill>
                <a:latin typeface="Barlow Condensed"/>
                <a:ea typeface="Barlow Condensed"/>
                <a:cs typeface="Barlow Condensed"/>
              </a:defRPr>
            </a:lvl4pPr>
            <a:lvl5pPr algn="ctr">
              <a:buNone/>
              <a:defRPr sz="3600" b="1">
                <a:solidFill>
                  <a:srgbClr val="1C303E"/>
                </a:solidFill>
                <a:latin typeface="Barlow Condensed"/>
                <a:ea typeface="Barlow Condensed"/>
                <a:cs typeface="Barlow Condensed"/>
              </a:defRPr>
            </a:lvl5pPr>
            <a:lvl6pPr algn="ctr">
              <a:buNone/>
              <a:defRPr sz="3600" b="1">
                <a:solidFill>
                  <a:srgbClr val="1C303E"/>
                </a:solidFill>
                <a:latin typeface="Barlow Condensed"/>
                <a:ea typeface="Barlow Condensed"/>
                <a:cs typeface="Barlow Condensed"/>
              </a:defRPr>
            </a:lvl6pPr>
            <a:lvl7pPr algn="ctr">
              <a:buNone/>
              <a:defRPr sz="3600" b="1">
                <a:solidFill>
                  <a:srgbClr val="1C303E"/>
                </a:solidFill>
                <a:latin typeface="Barlow Condensed"/>
                <a:ea typeface="Barlow Condensed"/>
                <a:cs typeface="Barlow Condensed"/>
              </a:defRPr>
            </a:lvl7pPr>
            <a:lvl8pPr algn="ctr">
              <a:buNone/>
              <a:defRPr sz="3600" b="1">
                <a:solidFill>
                  <a:srgbClr val="1C303E"/>
                </a:solidFill>
                <a:latin typeface="Barlow Condensed"/>
                <a:ea typeface="Barlow Condensed"/>
                <a:cs typeface="Barlow Condensed"/>
              </a:defRPr>
            </a:lvl8pPr>
            <a:lvl9pPr algn="ctr">
              <a:buNone/>
              <a:defRPr sz="3600" b="1">
                <a:solidFill>
                  <a:srgbClr val="1C303E"/>
                </a:solidFill>
                <a:latin typeface="Barlow Condensed"/>
                <a:ea typeface="Barlow Condensed"/>
                <a:cs typeface="Barlow Condensed"/>
              </a:defRPr>
            </a:lvl9pPr>
          </a:lstStyle>
          <a:p xmlns:a="http://schemas.openxmlformats.org/drawingml/2006/main">
            <a:pPr algn="ctr">
              <a:buNone/>
              <a:defRPr sz="3600" b="1">
                <a:solidFill>
                  <a:srgbClr val="1C303E"/>
                </a:solidFill>
              </a:defRPr>
            </a:pPr>
            <a:r>
              <a:rPr sz="3600" b="1">
                <a:solidFill>
                  <a:srgbClr val="1C303E"/>
                </a:solidFill>
                <a:latin typeface="Barlow Condensed"/>
                <a:ea typeface="Barlow Condensed"/>
                <a:cs typeface="Barlow Condensed"/>
              </a:rPr>
              <a:t>VR HIGH SCHOOL</a:t>
            </a:r>
          </a:p>
        </p:txBody>
      </p:sp>
      <p:pic>
        <p:nvPicPr>
          <p:cNvPr id="7" name="">
            <a:extLst xmlns:a="http://schemas.openxmlformats.org/drawingml/2006/main">
              <a:ext uri="{FF2B5EF4-FFF2-40B4-BE49-F238E27FC236}">
                <a16:creationId xmlns:a16="http://schemas.microsoft.com/office/drawing/2014/main" id="{9D883139-C621-4A70-B7A5-A75F725A4709}"/>
              </a:ext>
            </a:extLst>
          </p:cNvPr>
          <p:cNvPicPr>
            <a:picLocks xmlns:a="http://schemas.openxmlformats.org/drawingml/2006/main" noChangeAspect="1"/>
          </p:cNvPicPr>
          <p:nvPr/>
        </p:nvPicPr>
        <p:blipFill>
          <a:blip xmlns:r="http://schemas.openxmlformats.org/officeDocument/2006/relationships" xmlns:a="http://schemas.openxmlformats.org/drawingml/2006/main" r:embed="Re2fe5e92b8624cd6"/>
          <a:stretch xmlns:a="http://schemas.openxmlformats.org/drawingml/2006/main"/>
        </p:blipFill>
        <p:spPr>
          <a:xfrm xmlns:a="http://schemas.openxmlformats.org/drawingml/2006/main">
            <a:off x="2019301" y="1009650"/>
            <a:ext cx="2057400" cy="2057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8EB0DE-311C-41DC-9E72-8CEE13C98175}"/>
              </a:ext>
            </a:extLst>
          </p:cNvPr>
          <p:cNvSpPr>
            <a:spLocks xmlns:a="http://schemas.openxmlformats.org/drawingml/2006/main" noGrp="1"/>
          </p:cNvSpPr>
          <p:nvPr/>
        </p:nvSpPr>
        <p:spPr>
          <a:xfrm xmlns:a="http://schemas.openxmlformats.org/drawingml/2006/main">
            <a:off x="1905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ENGLISH</a:t>
            </a:r>
          </a:p>
        </p:txBody>
      </p:sp>
      <p:pic>
        <p:nvPicPr>
          <p:cNvPr id="9" name="">
            <a:extLst xmlns:a="http://schemas.openxmlformats.org/drawingml/2006/main">
              <a:ext uri="{FF2B5EF4-FFF2-40B4-BE49-F238E27FC236}">
                <a16:creationId xmlns:a16="http://schemas.microsoft.com/office/drawing/2014/main" id="{0773B42C-4C39-4984-8036-2B41B33988F3}"/>
              </a:ext>
            </a:extLst>
          </p:cNvPr>
          <p:cNvPicPr>
            <a:picLocks xmlns:a="http://schemas.openxmlformats.org/drawingml/2006/main" noChangeAspect="1"/>
          </p:cNvPicPr>
          <p:nvPr/>
        </p:nvPicPr>
        <p:blipFill>
          <a:blip xmlns:r="http://schemas.openxmlformats.org/officeDocument/2006/relationships" xmlns:a="http://schemas.openxmlformats.org/drawingml/2006/main" r:embed="R3a88e000532147a3"/>
          <a:stretch xmlns:a="http://schemas.openxmlformats.org/drawingml/2006/main"/>
        </p:blipFill>
        <p:spPr>
          <a:xfrm xmlns:a="http://schemas.openxmlformats.org/drawingml/2006/main">
            <a:off x="4305301" y="1009650"/>
            <a:ext cx="2057400" cy="2057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693AA2A-1422-49FB-ABD3-FA515A300027}"/>
              </a:ext>
            </a:extLst>
          </p:cNvPr>
          <p:cNvSpPr>
            <a:spLocks xmlns:a="http://schemas.openxmlformats.org/drawingml/2006/main" noGrp="1"/>
          </p:cNvSpPr>
          <p:nvPr/>
        </p:nvSpPr>
        <p:spPr>
          <a:xfrm xmlns:a="http://schemas.openxmlformats.org/drawingml/2006/main">
            <a:off x="4191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MATH</a:t>
            </a:r>
          </a:p>
        </p:txBody>
      </p:sp>
      <p:pic>
        <p:nvPicPr>
          <p:cNvPr id="11" name="">
            <a:extLst xmlns:a="http://schemas.openxmlformats.org/drawingml/2006/main">
              <a:ext uri="{FF2B5EF4-FFF2-40B4-BE49-F238E27FC236}">
                <a16:creationId xmlns:a16="http://schemas.microsoft.com/office/drawing/2014/main" id="{4819B5A0-B3E5-40A1-9326-136EE298C57A}"/>
              </a:ext>
            </a:extLst>
          </p:cNvPr>
          <p:cNvPicPr>
            <a:picLocks xmlns:a="http://schemas.openxmlformats.org/drawingml/2006/main" noChangeAspect="1"/>
          </p:cNvPicPr>
          <p:nvPr/>
        </p:nvPicPr>
        <p:blipFill>
          <a:blip xmlns:r="http://schemas.openxmlformats.org/officeDocument/2006/relationships" xmlns:a="http://schemas.openxmlformats.org/drawingml/2006/main" r:embed="Rba05b12b058c4376"/>
          <a:stretch xmlns:a="http://schemas.openxmlformats.org/drawingml/2006/main"/>
        </p:blipFill>
        <p:spPr>
          <a:xfrm xmlns:a="http://schemas.openxmlformats.org/drawingml/2006/main">
            <a:off x="6591300" y="1009650"/>
            <a:ext cx="2057400" cy="2057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96B4D50-87A7-4020-962A-527A853954F9}"/>
              </a:ext>
            </a:extLst>
          </p:cNvPr>
          <p:cNvSpPr>
            <a:spLocks xmlns:a="http://schemas.openxmlformats.org/drawingml/2006/main" noGrp="1"/>
          </p:cNvSpPr>
          <p:nvPr/>
        </p:nvSpPr>
        <p:spPr>
          <a:xfrm xmlns:a="http://schemas.openxmlformats.org/drawingml/2006/main">
            <a:off x="6477000"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SCIENCE</a:t>
            </a:r>
          </a:p>
        </p:txBody>
      </p:sp>
      <p:pic>
        <p:nvPicPr>
          <p:cNvPr id="13" name="">
            <a:extLst xmlns:a="http://schemas.openxmlformats.org/drawingml/2006/main">
              <a:ext uri="{FF2B5EF4-FFF2-40B4-BE49-F238E27FC236}">
                <a16:creationId xmlns:a16="http://schemas.microsoft.com/office/drawing/2014/main" id="{E9409A07-898A-4FE1-9389-A2613DEFFE8F}"/>
              </a:ext>
            </a:extLst>
          </p:cNvPr>
          <p:cNvPicPr>
            <a:picLocks xmlns:a="http://schemas.openxmlformats.org/drawingml/2006/main" noChangeAspect="1"/>
          </p:cNvPicPr>
          <p:nvPr/>
        </p:nvPicPr>
        <p:blipFill>
          <a:blip xmlns:r="http://schemas.openxmlformats.org/officeDocument/2006/relationships" xmlns:a="http://schemas.openxmlformats.org/drawingml/2006/main" r:embed="Rff74ea8001b44446"/>
          <a:stretch xmlns:a="http://schemas.openxmlformats.org/drawingml/2006/main"/>
        </p:blipFill>
        <p:spPr>
          <a:xfrm xmlns:a="http://schemas.openxmlformats.org/drawingml/2006/main">
            <a:off x="8877301" y="1009650"/>
            <a:ext cx="2057400" cy="2057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B23D0F2-415B-4A2B-87C6-52305680D82C}"/>
              </a:ext>
            </a:extLst>
          </p:cNvPr>
          <p:cNvSpPr>
            <a:spLocks xmlns:a="http://schemas.openxmlformats.org/drawingml/2006/main" noGrp="1"/>
          </p:cNvSpPr>
          <p:nvPr/>
        </p:nvSpPr>
        <p:spPr>
          <a:xfrm xmlns:a="http://schemas.openxmlformats.org/drawingml/2006/main">
            <a:off x="8763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HISTORY</a:t>
            </a:r>
          </a:p>
        </p:txBody>
      </p:sp>
      <p:pic>
        <p:nvPicPr>
          <p:cNvPr id="15" name="">
            <a:extLst xmlns:a="http://schemas.openxmlformats.org/drawingml/2006/main">
              <a:ext uri="{FF2B5EF4-FFF2-40B4-BE49-F238E27FC236}">
                <a16:creationId xmlns:a16="http://schemas.microsoft.com/office/drawing/2014/main" id="{E75467E8-6006-420A-8E7C-A81DDE6F806C}"/>
              </a:ext>
            </a:extLst>
          </p:cNvPr>
          <p:cNvPicPr>
            <a:picLocks xmlns:a="http://schemas.openxmlformats.org/drawingml/2006/main" noChangeAspect="1"/>
          </p:cNvPicPr>
          <p:nvPr/>
        </p:nvPicPr>
        <p:blipFill>
          <a:blip xmlns:r="http://schemas.openxmlformats.org/officeDocument/2006/relationships" xmlns:a="http://schemas.openxmlformats.org/drawingml/2006/main" r:embed="R94b757613d0f4bdb"/>
          <a:stretch xmlns:a="http://schemas.openxmlformats.org/drawingml/2006/main"/>
        </p:blipFill>
        <p:spPr>
          <a:xfrm xmlns:a="http://schemas.openxmlformats.org/drawingml/2006/main">
            <a:off x="11163301" y="1009650"/>
            <a:ext cx="2057400" cy="2057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65DDCCC-0715-4CFC-9E4C-F1C71DCFD754}"/>
              </a:ext>
            </a:extLst>
          </p:cNvPr>
          <p:cNvSpPr>
            <a:spLocks xmlns:a="http://schemas.openxmlformats.org/drawingml/2006/main" noGrp="1"/>
          </p:cNvSpPr>
          <p:nvPr/>
        </p:nvSpPr>
        <p:spPr>
          <a:xfrm xmlns:a="http://schemas.openxmlformats.org/drawingml/2006/main">
            <a:off x="11049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GEOGRAPHY</a:t>
            </a:r>
          </a:p>
        </p:txBody>
      </p:sp>
      <p:pic>
        <p:nvPicPr>
          <p:cNvPr id="17" name="">
            <a:extLst xmlns:a="http://schemas.openxmlformats.org/drawingml/2006/main">
              <a:ext uri="{FF2B5EF4-FFF2-40B4-BE49-F238E27FC236}">
                <a16:creationId xmlns:a16="http://schemas.microsoft.com/office/drawing/2014/main" id="{ECE6CD05-3A28-4E3C-8718-84F61A19E585}"/>
              </a:ext>
            </a:extLst>
          </p:cNvPr>
          <p:cNvPicPr>
            <a:picLocks xmlns:a="http://schemas.openxmlformats.org/drawingml/2006/main" noChangeAspect="1"/>
          </p:cNvPicPr>
          <p:nvPr/>
        </p:nvPicPr>
        <p:blipFill>
          <a:blip xmlns:r="http://schemas.openxmlformats.org/officeDocument/2006/relationships" xmlns:a="http://schemas.openxmlformats.org/drawingml/2006/main" r:embed="R7891b6862bdb497b"/>
          <a:srcRect xmlns:a="http://schemas.openxmlformats.org/drawingml/2006/main" l="0" t="0" r="0" b="0"/>
          <a:stretch xmlns:a="http://schemas.openxmlformats.org/drawingml/2006/main"/>
        </p:blipFill>
        <p:spPr>
          <a:xfrm xmlns:a="http://schemas.openxmlformats.org/drawingml/2006/main">
            <a:off x="3162301" y="3343275"/>
            <a:ext cx="2057400" cy="2057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FC2B729-B9E5-4BB0-AF6F-ECF95C8131C4}"/>
              </a:ext>
            </a:extLst>
          </p:cNvPr>
          <p:cNvSpPr>
            <a:spLocks xmlns:a="http://schemas.openxmlformats.org/drawingml/2006/main" noGrp="1"/>
          </p:cNvSpPr>
          <p:nvPr/>
        </p:nvSpPr>
        <p:spPr>
          <a:xfrm xmlns:a="http://schemas.openxmlformats.org/drawingml/2006/main">
            <a:off x="3048001"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LANGUAGE ARTS</a:t>
            </a:r>
          </a:p>
        </p:txBody>
      </p:sp>
      <p:pic>
        <p:nvPicPr>
          <p:cNvPr id="19" name="">
            <a:extLst xmlns:a="http://schemas.openxmlformats.org/drawingml/2006/main">
              <a:ext uri="{FF2B5EF4-FFF2-40B4-BE49-F238E27FC236}">
                <a16:creationId xmlns:a16="http://schemas.microsoft.com/office/drawing/2014/main" id="{F6ABC3AD-B424-4E7C-B740-30CB73106249}"/>
              </a:ext>
            </a:extLst>
          </p:cNvPr>
          <p:cNvPicPr>
            <a:picLocks xmlns:a="http://schemas.openxmlformats.org/drawingml/2006/main" noChangeAspect="1"/>
          </p:cNvPicPr>
          <p:nvPr/>
        </p:nvPicPr>
        <p:blipFill>
          <a:blip xmlns:r="http://schemas.openxmlformats.org/officeDocument/2006/relationships" xmlns:a="http://schemas.openxmlformats.org/drawingml/2006/main" r:embed="R9e0f79c0d6254a9b"/>
          <a:stretch xmlns:a="http://schemas.openxmlformats.org/drawingml/2006/main"/>
        </p:blipFill>
        <p:spPr>
          <a:xfrm xmlns:a="http://schemas.openxmlformats.org/drawingml/2006/main">
            <a:off x="5448300" y="3343275"/>
            <a:ext cx="2057400" cy="2057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88AF58C8-AFAD-423A-85EE-00A062122256}"/>
              </a:ext>
            </a:extLst>
          </p:cNvPr>
          <p:cNvSpPr>
            <a:spLocks xmlns:a="http://schemas.openxmlformats.org/drawingml/2006/main" noGrp="1"/>
          </p:cNvSpPr>
          <p:nvPr/>
        </p:nvSpPr>
        <p:spPr>
          <a:xfrm xmlns:a="http://schemas.openxmlformats.org/drawingml/2006/main">
            <a:off x="5334000"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HEALTH</a:t>
            </a:r>
          </a:p>
        </p:txBody>
      </p:sp>
      <p:pic>
        <p:nvPicPr>
          <p:cNvPr id="21" name="">
            <a:extLst xmlns:a="http://schemas.openxmlformats.org/drawingml/2006/main">
              <a:ext uri="{FF2B5EF4-FFF2-40B4-BE49-F238E27FC236}">
                <a16:creationId xmlns:a16="http://schemas.microsoft.com/office/drawing/2014/main" id="{1EC4CB77-B3C1-414F-83B0-E82BB981D4DB}"/>
              </a:ext>
            </a:extLst>
          </p:cNvPr>
          <p:cNvPicPr>
            <a:picLocks xmlns:a="http://schemas.openxmlformats.org/drawingml/2006/main" noChangeAspect="1"/>
          </p:cNvPicPr>
          <p:nvPr/>
        </p:nvPicPr>
        <p:blipFill>
          <a:blip xmlns:r="http://schemas.openxmlformats.org/officeDocument/2006/relationships" xmlns:a="http://schemas.openxmlformats.org/drawingml/2006/main" r:embed="R2988a563a03f4a2b"/>
          <a:srcRect xmlns:a="http://schemas.openxmlformats.org/drawingml/2006/main" l="0" t="0" r="0" b="0"/>
          <a:stretch xmlns:a="http://schemas.openxmlformats.org/drawingml/2006/main"/>
        </p:blipFill>
        <p:spPr>
          <a:xfrm xmlns:a="http://schemas.openxmlformats.org/drawingml/2006/main">
            <a:off x="7734300" y="3343275"/>
            <a:ext cx="2057400" cy="20574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9429E10-FD3D-4BE0-B8A2-6978B735148B}"/>
              </a:ext>
            </a:extLst>
          </p:cNvPr>
          <p:cNvSpPr>
            <a:spLocks xmlns:a="http://schemas.openxmlformats.org/drawingml/2006/main" noGrp="1"/>
          </p:cNvSpPr>
          <p:nvPr/>
        </p:nvSpPr>
        <p:spPr>
          <a:xfrm xmlns:a="http://schemas.openxmlformats.org/drawingml/2006/main">
            <a:off x="7620000"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PHYSICAL EDUCATION</a:t>
            </a:r>
          </a:p>
        </p:txBody>
      </p:sp>
      <p:pic>
        <p:nvPicPr>
          <p:cNvPr id="23" name="">
            <a:extLst xmlns:a="http://schemas.openxmlformats.org/drawingml/2006/main">
              <a:ext uri="{FF2B5EF4-FFF2-40B4-BE49-F238E27FC236}">
                <a16:creationId xmlns:a16="http://schemas.microsoft.com/office/drawing/2014/main" id="{6F44D264-30E5-49DD-8BF2-2F88D52407A4}"/>
              </a:ext>
            </a:extLst>
          </p:cNvPr>
          <p:cNvPicPr>
            <a:picLocks xmlns:a="http://schemas.openxmlformats.org/drawingml/2006/main" noChangeAspect="1"/>
          </p:cNvPicPr>
          <p:nvPr/>
        </p:nvPicPr>
        <p:blipFill>
          <a:blip xmlns:r="http://schemas.openxmlformats.org/officeDocument/2006/relationships" xmlns:a="http://schemas.openxmlformats.org/drawingml/2006/main" r:embed="Rfaf590d8114b44ae"/>
          <a:srcRect xmlns:a="http://schemas.openxmlformats.org/drawingml/2006/main" l="0" t="0" r="0" b="0"/>
          <a:stretch xmlns:a="http://schemas.openxmlformats.org/drawingml/2006/main"/>
        </p:blipFill>
        <p:spPr>
          <a:xfrm xmlns:a="http://schemas.openxmlformats.org/drawingml/2006/main">
            <a:off x="10020301" y="3343275"/>
            <a:ext cx="2057400" cy="20574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297DBFA-A459-4818-9034-55B7BADD6E30}"/>
              </a:ext>
            </a:extLst>
          </p:cNvPr>
          <p:cNvSpPr>
            <a:spLocks xmlns:a="http://schemas.openxmlformats.org/drawingml/2006/main" noGrp="1"/>
          </p:cNvSpPr>
          <p:nvPr/>
        </p:nvSpPr>
        <p:spPr>
          <a:xfrm xmlns:a="http://schemas.openxmlformats.org/drawingml/2006/main">
            <a:off x="9906001"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ART</a:t>
            </a:r>
          </a:p>
        </p:txBody>
      </p:sp>
      <p:pic>
        <p:nvPicPr>
          <p:cNvPr id="25" name="">
            <a:extLst xmlns:a="http://schemas.openxmlformats.org/drawingml/2006/main">
              <a:ext uri="{FF2B5EF4-FFF2-40B4-BE49-F238E27FC236}">
                <a16:creationId xmlns:a16="http://schemas.microsoft.com/office/drawing/2014/main" id="{EAA047CE-C523-4D7C-9A41-2F24D1E61449}"/>
              </a:ext>
            </a:extLst>
          </p:cNvPr>
          <p:cNvPicPr>
            <a:picLocks xmlns:a="http://schemas.openxmlformats.org/drawingml/2006/main" noChangeAspect="1"/>
          </p:cNvPicPr>
          <p:nvPr/>
        </p:nvPicPr>
        <p:blipFill>
          <a:blip xmlns:r="http://schemas.openxmlformats.org/officeDocument/2006/relationships" xmlns:a="http://schemas.openxmlformats.org/drawingml/2006/main" r:embed="R92024368644d461a"/>
          <a:stretch xmlns:a="http://schemas.openxmlformats.org/drawingml/2006/main"/>
        </p:blipFill>
        <p:spPr>
          <a:xfrm xmlns:a="http://schemas.openxmlformats.org/drawingml/2006/main">
            <a:off x="3162301" y="5676900"/>
            <a:ext cx="2057400" cy="2057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8CAB88CC-F7AE-4C14-8215-0DCC843C32AA}"/>
              </a:ext>
            </a:extLst>
          </p:cNvPr>
          <p:cNvSpPr>
            <a:spLocks xmlns:a="http://schemas.openxmlformats.org/drawingml/2006/main" noGrp="1"/>
          </p:cNvSpPr>
          <p:nvPr/>
        </p:nvSpPr>
        <p:spPr>
          <a:xfrm xmlns:a="http://schemas.openxmlformats.org/drawingml/2006/main">
            <a:off x="3048001"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MUSIC</a:t>
            </a:r>
          </a:p>
        </p:txBody>
      </p:sp>
      <p:pic>
        <p:nvPicPr>
          <p:cNvPr id="27" name="">
            <a:extLst xmlns:a="http://schemas.openxmlformats.org/drawingml/2006/main">
              <a:ext uri="{FF2B5EF4-FFF2-40B4-BE49-F238E27FC236}">
                <a16:creationId xmlns:a16="http://schemas.microsoft.com/office/drawing/2014/main" id="{610FF998-562D-48F1-9E94-25C8127DBF51}"/>
              </a:ext>
            </a:extLst>
          </p:cNvPr>
          <p:cNvPicPr>
            <a:picLocks xmlns:a="http://schemas.openxmlformats.org/drawingml/2006/main" noChangeAspect="1"/>
          </p:cNvPicPr>
          <p:nvPr/>
        </p:nvPicPr>
        <p:blipFill>
          <a:blip xmlns:r="http://schemas.openxmlformats.org/officeDocument/2006/relationships" xmlns:a="http://schemas.openxmlformats.org/drawingml/2006/main" r:embed="R8158b035e43f47e6"/>
          <a:stretch xmlns:a="http://schemas.openxmlformats.org/drawingml/2006/main"/>
        </p:blipFill>
        <p:spPr>
          <a:xfrm xmlns:a="http://schemas.openxmlformats.org/drawingml/2006/main">
            <a:off x="5791200" y="5676900"/>
            <a:ext cx="1371600" cy="20574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17F01968-D31B-459E-8768-9F37C69E3652}"/>
              </a:ext>
            </a:extLst>
          </p:cNvPr>
          <p:cNvSpPr>
            <a:spLocks xmlns:a="http://schemas.openxmlformats.org/drawingml/2006/main" noGrp="1"/>
          </p:cNvSpPr>
          <p:nvPr/>
        </p:nvSpPr>
        <p:spPr>
          <a:xfrm xmlns:a="http://schemas.openxmlformats.org/drawingml/2006/main">
            <a:off x="5334000"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DRAMA</a:t>
            </a:r>
          </a:p>
        </p:txBody>
      </p:sp>
      <p:pic>
        <p:nvPicPr>
          <p:cNvPr id="29" name="">
            <a:extLst xmlns:a="http://schemas.openxmlformats.org/drawingml/2006/main">
              <a:ext uri="{FF2B5EF4-FFF2-40B4-BE49-F238E27FC236}">
                <a16:creationId xmlns:a16="http://schemas.microsoft.com/office/drawing/2014/main" id="{120369A2-D08B-436E-B011-8BDDE2E23237}"/>
              </a:ext>
            </a:extLst>
          </p:cNvPr>
          <p:cNvPicPr>
            <a:picLocks xmlns:a="http://schemas.openxmlformats.org/drawingml/2006/main" noChangeAspect="1"/>
          </p:cNvPicPr>
          <p:nvPr/>
        </p:nvPicPr>
        <p:blipFill>
          <a:blip xmlns:r="http://schemas.openxmlformats.org/officeDocument/2006/relationships" xmlns:a="http://schemas.openxmlformats.org/drawingml/2006/main" r:embed="R211e82bfdefa477e"/>
          <a:stretch xmlns:a="http://schemas.openxmlformats.org/drawingml/2006/main"/>
        </p:blipFill>
        <p:spPr>
          <a:xfrm xmlns:a="http://schemas.openxmlformats.org/drawingml/2006/main">
            <a:off x="7734300" y="5676900"/>
            <a:ext cx="2057400" cy="20574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F3983B83-E7F7-4D6B-8203-4B98D22A2E3A}"/>
              </a:ext>
            </a:extLst>
          </p:cNvPr>
          <p:cNvSpPr>
            <a:spLocks xmlns:a="http://schemas.openxmlformats.org/drawingml/2006/main" noGrp="1"/>
          </p:cNvSpPr>
          <p:nvPr/>
        </p:nvSpPr>
        <p:spPr>
          <a:xfrm xmlns:a="http://schemas.openxmlformats.org/drawingml/2006/main">
            <a:off x="7620000"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TECHNOLOGY</a:t>
            </a:r>
          </a:p>
        </p:txBody>
      </p:sp>
      <p:pic>
        <p:nvPicPr>
          <p:cNvPr id="31" name="">
            <a:extLst xmlns:a="http://schemas.openxmlformats.org/drawingml/2006/main">
              <a:ext uri="{FF2B5EF4-FFF2-40B4-BE49-F238E27FC236}">
                <a16:creationId xmlns:a16="http://schemas.microsoft.com/office/drawing/2014/main" id="{D38CA073-D6BD-40DC-A93D-0F7F70598D4F}"/>
              </a:ext>
            </a:extLst>
          </p:cNvPr>
          <p:cNvPicPr>
            <a:picLocks xmlns:a="http://schemas.openxmlformats.org/drawingml/2006/main" noChangeAspect="1"/>
          </p:cNvPicPr>
          <p:nvPr/>
        </p:nvPicPr>
        <p:blipFill>
          <a:blip xmlns:r="http://schemas.openxmlformats.org/officeDocument/2006/relationships" xmlns:a="http://schemas.openxmlformats.org/drawingml/2006/main" r:embed="Re24d630f1ae048a3"/>
          <a:stretch xmlns:a="http://schemas.openxmlformats.org/drawingml/2006/main"/>
        </p:blipFill>
        <p:spPr>
          <a:xfrm xmlns:a="http://schemas.openxmlformats.org/drawingml/2006/main">
            <a:off x="10363201" y="5676900"/>
            <a:ext cx="1371600" cy="20574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2CFF6711-EB20-4312-80C5-4878B88152C3}"/>
              </a:ext>
            </a:extLst>
          </p:cNvPr>
          <p:cNvSpPr>
            <a:spLocks xmlns:a="http://schemas.openxmlformats.org/drawingml/2006/main" noGrp="1"/>
          </p:cNvSpPr>
          <p:nvPr/>
        </p:nvSpPr>
        <p:spPr>
          <a:xfrm xmlns:a="http://schemas.openxmlformats.org/drawingml/2006/main">
            <a:off x="9906001"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buNone/>
              <a:defRPr sz="1050">
                <a:solidFill>
                  <a:srgbClr val="1C303E"/>
                </a:solidFill>
                <a:latin typeface="Andale Mono"/>
                <a:ea typeface="Andale Mono"/>
                <a:cs typeface="Andale Mono"/>
              </a:defRPr>
            </a:lvl1pPr>
            <a:lvl2pPr algn="ctr">
              <a:buNone/>
              <a:defRPr sz="1050">
                <a:solidFill>
                  <a:srgbClr val="1C303E"/>
                </a:solidFill>
                <a:latin typeface="Andale Mono"/>
                <a:ea typeface="Andale Mono"/>
                <a:cs typeface="Andale Mono"/>
              </a:defRPr>
            </a:lvl2pPr>
            <a:lvl3pPr algn="ctr">
              <a:buNone/>
              <a:defRPr sz="1050">
                <a:solidFill>
                  <a:srgbClr val="1C303E"/>
                </a:solidFill>
                <a:latin typeface="Andale Mono"/>
                <a:ea typeface="Andale Mono"/>
                <a:cs typeface="Andale Mono"/>
              </a:defRPr>
            </a:lvl3pPr>
            <a:lvl4pPr algn="ctr">
              <a:buNone/>
              <a:defRPr sz="1050">
                <a:solidFill>
                  <a:srgbClr val="1C303E"/>
                </a:solidFill>
                <a:latin typeface="Andale Mono"/>
                <a:ea typeface="Andale Mono"/>
                <a:cs typeface="Andale Mono"/>
              </a:defRPr>
            </a:lvl4pPr>
            <a:lvl5pPr algn="ctr">
              <a:buNone/>
              <a:defRPr sz="1050">
                <a:solidFill>
                  <a:srgbClr val="1C303E"/>
                </a:solidFill>
                <a:latin typeface="Andale Mono"/>
                <a:ea typeface="Andale Mono"/>
                <a:cs typeface="Andale Mono"/>
              </a:defRPr>
            </a:lvl5pPr>
            <a:lvl6pPr algn="ctr">
              <a:buNone/>
              <a:defRPr sz="1050">
                <a:solidFill>
                  <a:srgbClr val="1C303E"/>
                </a:solidFill>
                <a:latin typeface="Andale Mono"/>
                <a:ea typeface="Andale Mono"/>
                <a:cs typeface="Andale Mono"/>
              </a:defRPr>
            </a:lvl6pPr>
            <a:lvl7pPr algn="ctr">
              <a:buNone/>
              <a:defRPr sz="1050">
                <a:solidFill>
                  <a:srgbClr val="1C303E"/>
                </a:solidFill>
                <a:latin typeface="Andale Mono"/>
                <a:ea typeface="Andale Mono"/>
                <a:cs typeface="Andale Mono"/>
              </a:defRPr>
            </a:lvl7pPr>
            <a:lvl8pPr algn="ctr">
              <a:buNone/>
              <a:defRPr sz="1050">
                <a:solidFill>
                  <a:srgbClr val="1C303E"/>
                </a:solidFill>
                <a:latin typeface="Andale Mono"/>
                <a:ea typeface="Andale Mono"/>
                <a:cs typeface="Andale Mono"/>
              </a:defRPr>
            </a:lvl8pPr>
            <a:lvl9pPr algn="ctr">
              <a:buNone/>
              <a:defRPr sz="1050">
                <a:solidFill>
                  <a:srgbClr val="1C303E"/>
                </a:solidFill>
                <a:latin typeface="Andale Mono"/>
                <a:ea typeface="Andale Mono"/>
                <a:cs typeface="Andale Mono"/>
              </a:defRPr>
            </a:lvl9pPr>
          </a:lstStyle>
          <a:p xmlns:a="http://schemas.openxmlformats.org/drawingml/2006/main">
            <a:pPr algn="ctr">
              <a:buNone/>
              <a:defRPr sz="1050">
                <a:solidFill>
                  <a:srgbClr val="1C303E"/>
                </a:solidFill>
              </a:defRPr>
            </a:pPr>
            <a:r>
              <a:rPr sz="1050">
                <a:solidFill>
                  <a:srgbClr val="1C303E"/>
                </a:solidFill>
                <a:latin typeface="Andale Mono"/>
                <a:ea typeface="Andale Mono"/>
                <a:cs typeface="Andale Mono"/>
              </a:rPr>
              <a:t>HEADMASTER</a:t>
            </a:r>
          </a:p>
        </p:txBody>
      </p:sp>
    </p:spTree>
    <p:extLst>
      <p:ext uri="{BB962C8B-B14F-4D97-AF65-F5344CB8AC3E}">
        <p14:creationId xmlns:p14="http://schemas.microsoft.com/office/powerpoint/2010/main" val="1069600911"/>
      </p:ext>
    </p:extLst>
  </p:cSld>
</p:sld>
</file>

<file path=ppt/slides/slide2.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064B059-8C20-4F4E-9E29-87073F2499C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SERVICE SHEET 01</a:t>
            </a:r>
          </a:p>
        </p:txBody>
      </p:sp>
      <p:sp>
        <p:nvSpPr>
          <p:cNvPr id="3" name="title">
            <a:extLst xmlns:a="http://schemas.openxmlformats.org/drawingml/2006/main">
              <a:ext uri="{FF2B5EF4-FFF2-40B4-BE49-F238E27FC236}">
                <a16:creationId xmlns:a16="http://schemas.microsoft.com/office/drawing/2014/main" id="{D3FF2787-5460-49AA-B974-1F4566AD81D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VOICE CASTING</a:t>
            </a:r>
          </a:p>
        </p:txBody>
      </p:sp>
      <p:sp>
        <p:nvSpPr>
          <p:cNvPr id="4" name="subtitle">
            <a:extLst xmlns:a="http://schemas.openxmlformats.org/drawingml/2006/main">
              <a:ext uri="{FF2B5EF4-FFF2-40B4-BE49-F238E27FC236}">
                <a16:creationId xmlns:a16="http://schemas.microsoft.com/office/drawing/2014/main" id="{C217EE2C-4777-4EDF-BB84-D2CB1F6AC9A4}"/>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ElevenLabs Voice Design is the recommended starting point for this fantasy cast</a:t>
            </a:r>
          </a:p>
        </p:txBody>
      </p:sp>
      <p:sp>
        <p:nvSpPr>
          <p:cNvPr id="5" name="">
            <a:extLst xmlns:a="http://schemas.openxmlformats.org/drawingml/2006/main">
              <a:ext uri="{FF2B5EF4-FFF2-40B4-BE49-F238E27FC236}">
                <a16:creationId xmlns:a16="http://schemas.microsoft.com/office/drawing/2014/main" id="{A6B6EFC2-CDB5-4029-8378-16E7B71376F3}"/>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recommendation">
            <a:extLst xmlns:a="http://schemas.openxmlformats.org/drawingml/2006/main">
              <a:ext uri="{FF2B5EF4-FFF2-40B4-BE49-F238E27FC236}">
                <a16:creationId xmlns:a16="http://schemas.microsoft.com/office/drawing/2014/main" id="{2E00F350-F6E2-4A65-8919-BB3984E12B99}"/>
              </a:ext>
            </a:extLst>
          </p:cNvPr>
          <p:cNvSpPr>
            <a:spLocks xmlns:a="http://schemas.openxmlformats.org/drawingml/2006/main" noGrp="1"/>
          </p:cNvSpPr>
          <p:nvPr/>
        </p:nvSpPr>
        <p:spPr>
          <a:xfrm xmlns:a="http://schemas.openxmlformats.org/drawingml/2006/main">
            <a:off x="533400" y="2238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Why this service</a:t>
            </a:r>
          </a:p>
        </p:txBody>
      </p:sp>
      <p:sp>
        <p:nvSpPr>
          <p:cNvPr id="7" name="service-explanation">
            <a:extLst xmlns:a="http://schemas.openxmlformats.org/drawingml/2006/main">
              <a:ext uri="{FF2B5EF4-FFF2-40B4-BE49-F238E27FC236}">
                <a16:creationId xmlns:a16="http://schemas.microsoft.com/office/drawing/2014/main" id="{5F1325C1-7C5D-433C-A059-46E527BB2CF4}"/>
              </a:ext>
            </a:extLst>
          </p:cNvPr>
          <p:cNvSpPr>
            <a:spLocks xmlns:a="http://schemas.openxmlformats.org/drawingml/2006/main" noGrp="1"/>
          </p:cNvSpPr>
          <p:nvPr/>
        </p:nvSpPr>
        <p:spPr>
          <a:xfrm xmlns:a="http://schemas.openxmlformats.org/drawingml/2006/main">
            <a:off x="533400" y="2800350"/>
            <a:ext cx="666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Voice Design accepts written character descriptions and offers several candidates to audition. Save a chosen voice for each teacher, then generate the test lines with the same saved voice.</a:t>
            </a:r>
          </a:p>
        </p:txBody>
      </p:sp>
      <p:sp>
        <p:nvSpPr>
          <p:cNvPr id="8" name="workflow-title">
            <a:extLst xmlns:a="http://schemas.openxmlformats.org/drawingml/2006/main">
              <a:ext uri="{FF2B5EF4-FFF2-40B4-BE49-F238E27FC236}">
                <a16:creationId xmlns:a16="http://schemas.microsoft.com/office/drawing/2014/main" id="{FB8EF243-67CF-4D31-A34D-73A105E6F788}"/>
              </a:ext>
            </a:extLst>
          </p:cNvPr>
          <p:cNvSpPr>
            <a:spLocks xmlns:a="http://schemas.openxmlformats.org/drawingml/2006/main" noGrp="1"/>
          </p:cNvSpPr>
          <p:nvPr/>
        </p:nvSpPr>
        <p:spPr>
          <a:xfrm xmlns:a="http://schemas.openxmlformats.org/drawingml/2006/main">
            <a:off x="7905750" y="2238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A repeatable audition</a:t>
            </a:r>
          </a:p>
        </p:txBody>
      </p:sp>
      <p:sp>
        <p:nvSpPr>
          <p:cNvPr id="9" name="workflow">
            <a:extLst xmlns:a="http://schemas.openxmlformats.org/drawingml/2006/main">
              <a:ext uri="{FF2B5EF4-FFF2-40B4-BE49-F238E27FC236}">
                <a16:creationId xmlns:a16="http://schemas.microsoft.com/office/drawing/2014/main" id="{6CE2F4CF-51E2-427D-B359-7C9DA2D37D51}"/>
              </a:ext>
            </a:extLst>
          </p:cNvPr>
          <p:cNvSpPr>
            <a:spLocks xmlns:a="http://schemas.openxmlformats.org/drawingml/2006/main" noGrp="1"/>
          </p:cNvSpPr>
          <p:nvPr/>
        </p:nvSpPr>
        <p:spPr>
          <a:xfrm xmlns:a="http://schemas.openxmlformats.org/drawingml/2006/main">
            <a:off x="7905750" y="2800350"/>
            <a:ext cx="666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1   Paste a teacher’s voice prompt into Voice Design.</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2   Use that teacher’s test dialogue as preview text.</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3   Audition welcome, feedback and help lines.</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4   Save the chosen voice ID and delivery settings.</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5   Regenerate a short scene to check consistency.</a:t>
            </a:r>
          </a:p>
        </p:txBody>
      </p:sp>
      <p:sp>
        <p:nvSpPr>
          <p:cNvPr id="10" name="licensing-title">
            <a:extLst xmlns:a="http://schemas.openxmlformats.org/drawingml/2006/main">
              <a:ext uri="{FF2B5EF4-FFF2-40B4-BE49-F238E27FC236}">
                <a16:creationId xmlns:a16="http://schemas.microsoft.com/office/drawing/2014/main" id="{965F04F0-8BCA-4EDD-93A9-0CC4775E37C6}"/>
              </a:ext>
            </a:extLst>
          </p:cNvPr>
          <p:cNvSpPr>
            <a:spLocks xmlns:a="http://schemas.openxmlformats.org/drawingml/2006/main" noGrp="1"/>
          </p:cNvSpPr>
          <p:nvPr/>
        </p:nvSpPr>
        <p:spPr>
          <a:xfrm xmlns:a="http://schemas.openxmlformats.org/drawingml/2006/main">
            <a:off x="533400" y="51435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Plan recommendation</a:t>
            </a:r>
          </a:p>
        </p:txBody>
      </p:sp>
      <p:sp>
        <p:nvSpPr>
          <p:cNvPr id="11" name="plan">
            <a:extLst xmlns:a="http://schemas.openxmlformats.org/drawingml/2006/main">
              <a:ext uri="{FF2B5EF4-FFF2-40B4-BE49-F238E27FC236}">
                <a16:creationId xmlns:a16="http://schemas.microsoft.com/office/drawing/2014/main" id="{8B81B0C6-5533-4596-AA65-3A1740DE7679}"/>
              </a:ext>
            </a:extLst>
          </p:cNvPr>
          <p:cNvSpPr>
            <a:spLocks xmlns:a="http://schemas.openxmlformats.org/drawingml/2006/main" noGrp="1"/>
          </p:cNvSpPr>
          <p:nvPr/>
        </p:nvSpPr>
        <p:spPr>
          <a:xfrm xmlns:a="http://schemas.openxmlformats.org/drawingml/2006/main">
            <a:off x="533400" y="5705475"/>
            <a:ext cx="666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Creator is a practical starting plan for this cast: 30 custom voice slots cover the 14 proposed voices. Standard monthly price: $22 before tax. The first-month offer may differ. Verify the price before subscribing.</a:t>
            </a:r>
          </a:p>
        </p:txBody>
      </p:sp>
      <p:sp>
        <p:nvSpPr>
          <p:cNvPr id="12" name="production">
            <a:extLst xmlns:a="http://schemas.openxmlformats.org/drawingml/2006/main">
              <a:ext uri="{FF2B5EF4-FFF2-40B4-BE49-F238E27FC236}">
                <a16:creationId xmlns:a16="http://schemas.microsoft.com/office/drawing/2014/main" id="{75094AAD-9508-4CA6-BB64-41E3570342BE}"/>
              </a:ext>
            </a:extLst>
          </p:cNvPr>
          <p:cNvSpPr>
            <a:spLocks xmlns:a="http://schemas.openxmlformats.org/drawingml/2006/main" noGrp="1"/>
          </p:cNvSpPr>
          <p:nvPr/>
        </p:nvSpPr>
        <p:spPr>
          <a:xfrm xmlns:a="http://schemas.openxmlformats.org/drawingml/2006/main">
            <a:off x="533400" y="7600950"/>
            <a:ext cx="6667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8EAD0"/>
                </a:solidFill>
                <a:latin typeface="Barlow Condensed"/>
                <a:ea typeface="Barlow Condensed"/>
                <a:cs typeface="Barlow Condensed"/>
              </a:defRPr>
            </a:defPPr>
            <a:lvl1pPr>
              <a:buNone/>
              <a:defRPr sz="2025" b="0">
                <a:solidFill>
                  <a:srgbClr val="F8EAD0"/>
                </a:solidFill>
                <a:latin typeface="Barlow Condensed"/>
                <a:ea typeface="Barlow Condensed"/>
                <a:cs typeface="Barlow Condensed"/>
              </a:defRPr>
            </a:lvl1pPr>
            <a:lvl2pPr>
              <a:buNone/>
              <a:defRPr sz="2025" b="0">
                <a:solidFill>
                  <a:srgbClr val="F8EAD0"/>
                </a:solidFill>
                <a:latin typeface="Barlow Condensed"/>
                <a:ea typeface="Barlow Condensed"/>
                <a:cs typeface="Barlow Condensed"/>
              </a:defRPr>
            </a:lvl2pPr>
            <a:lvl3pPr>
              <a:buNone/>
              <a:defRPr sz="2025" b="0">
                <a:solidFill>
                  <a:srgbClr val="F8EAD0"/>
                </a:solidFill>
                <a:latin typeface="Barlow Condensed"/>
                <a:ea typeface="Barlow Condensed"/>
                <a:cs typeface="Barlow Condensed"/>
              </a:defRPr>
            </a:lvl3pPr>
            <a:lvl4pPr>
              <a:buNone/>
              <a:defRPr sz="2025" b="0">
                <a:solidFill>
                  <a:srgbClr val="F8EAD0"/>
                </a:solidFill>
                <a:latin typeface="Barlow Condensed"/>
                <a:ea typeface="Barlow Condensed"/>
                <a:cs typeface="Barlow Condensed"/>
              </a:defRPr>
            </a:lvl4pPr>
            <a:lvl5pPr>
              <a:buNone/>
              <a:defRPr sz="2025" b="0">
                <a:solidFill>
                  <a:srgbClr val="F8EAD0"/>
                </a:solidFill>
                <a:latin typeface="Barlow Condensed"/>
                <a:ea typeface="Barlow Condensed"/>
                <a:cs typeface="Barlow Condensed"/>
              </a:defRPr>
            </a:lvl5pPr>
            <a:lvl6pPr>
              <a:buNone/>
              <a:defRPr sz="2025" b="0">
                <a:solidFill>
                  <a:srgbClr val="F8EAD0"/>
                </a:solidFill>
                <a:latin typeface="Barlow Condensed"/>
                <a:ea typeface="Barlow Condensed"/>
                <a:cs typeface="Barlow Condensed"/>
              </a:defRPr>
            </a:lvl6pPr>
            <a:lvl7pPr>
              <a:buNone/>
              <a:defRPr sz="2025" b="0">
                <a:solidFill>
                  <a:srgbClr val="F8EAD0"/>
                </a:solidFill>
                <a:latin typeface="Barlow Condensed"/>
                <a:ea typeface="Barlow Condensed"/>
                <a:cs typeface="Barlow Condensed"/>
              </a:defRPr>
            </a:lvl7pPr>
            <a:lvl8pPr>
              <a:buNone/>
              <a:defRPr sz="2025" b="0">
                <a:solidFill>
                  <a:srgbClr val="F8EAD0"/>
                </a:solidFill>
                <a:latin typeface="Barlow Condensed"/>
                <a:ea typeface="Barlow Condensed"/>
                <a:cs typeface="Barlow Condensed"/>
              </a:defRPr>
            </a:lvl8pPr>
            <a:lvl9pPr>
              <a:buNone/>
              <a:defRPr sz="202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2025" b="0">
                <a:solidFill>
                  <a:srgbClr val="F8EAD0"/>
                </a:solidFill>
                <a:latin typeface="Barlow Condensed"/>
                <a:ea typeface="Barlow Condensed"/>
                <a:cs typeface="Barlow Condensed"/>
              </a:rPr>
              <a:t>Generate commercial assets under a paid plan. Voice Design is useful for exploration, but the service notes that output quality varies. Audition repeated scenes before committing to the whole script.</a:t>
            </a:r>
          </a:p>
        </p:txBody>
      </p:sp>
      <p:sp>
        <p:nvSpPr>
          <p:cNvPr id="13" name="audition-note">
            <a:extLst xmlns:a="http://schemas.openxmlformats.org/drawingml/2006/main">
              <a:ext uri="{FF2B5EF4-FFF2-40B4-BE49-F238E27FC236}">
                <a16:creationId xmlns:a16="http://schemas.microsoft.com/office/drawing/2014/main" id="{3C0ED2AF-3A39-48A3-9C41-DB904225AD5C}"/>
              </a:ext>
            </a:extLst>
          </p:cNvPr>
          <p:cNvSpPr>
            <a:spLocks xmlns:a="http://schemas.openxmlformats.org/drawingml/2006/main" noGrp="1"/>
          </p:cNvSpPr>
          <p:nvPr/>
        </p:nvSpPr>
        <p:spPr>
          <a:xfrm xmlns:a="http://schemas.openxmlformats.org/drawingml/2006/main">
            <a:off x="7905750" y="5638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Performance direction</a:t>
            </a:r>
          </a:p>
        </p:txBody>
      </p:sp>
      <p:sp>
        <p:nvSpPr>
          <p:cNvPr id="14" name="delivery-note">
            <a:extLst xmlns:a="http://schemas.openxmlformats.org/drawingml/2006/main">
              <a:ext uri="{FF2B5EF4-FFF2-40B4-BE49-F238E27FC236}">
                <a16:creationId xmlns:a16="http://schemas.microsoft.com/office/drawing/2014/main" id="{41CCB66F-232A-43C5-9E9F-1D92030E8152}"/>
              </a:ext>
            </a:extLst>
          </p:cNvPr>
          <p:cNvSpPr>
            <a:spLocks xmlns:a="http://schemas.openxmlformats.org/drawingml/2006/main" noGrp="1"/>
          </p:cNvSpPr>
          <p:nvPr/>
        </p:nvSpPr>
        <p:spPr>
          <a:xfrm xmlns:a="http://schemas.openxmlformats.org/drawingml/2006/main">
            <a:off x="7905750" y="6191250"/>
            <a:ext cx="666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Keep the base voice clean and intelligible. Add any creature texture lightly in the sound mix. Treat pace ranges as acting targets, then adjust by listening. The ettin heads speak one at a time.</a:t>
            </a:r>
          </a:p>
          <a:p xmlns:a="http://schemas.openxmlformats.org/drawingml/2006/main">
            <a:r>
              <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These sheets provide written prompts and dialogue. Audio generation is a separate production step.</a:t>
            </a:r>
          </a:p>
        </p:txBody>
      </p:sp>
      <p:sp>
        <p:nvSpPr>
          <p:cNvPr id="15" name="">
            <a:extLst xmlns:a="http://schemas.openxmlformats.org/drawingml/2006/main">
              <a:ext uri="{FF2B5EF4-FFF2-40B4-BE49-F238E27FC236}">
                <a16:creationId xmlns:a16="http://schemas.microsoft.com/office/drawing/2014/main" id="{E15802E3-F8F3-4588-AD88-3B7EE5E37400}"/>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6" name="footer">
            <a:extLst xmlns:a="http://schemas.openxmlformats.org/drawingml/2006/main">
              <a:ext uri="{FF2B5EF4-FFF2-40B4-BE49-F238E27FC236}">
                <a16:creationId xmlns:a16="http://schemas.microsoft.com/office/drawing/2014/main" id="{D005935C-EFC6-43B9-BFEE-77BE40FBC2A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7" name="folio">
            <a:extLst xmlns:a="http://schemas.openxmlformats.org/drawingml/2006/main">
              <a:ext uri="{FF2B5EF4-FFF2-40B4-BE49-F238E27FC236}">
                <a16:creationId xmlns:a16="http://schemas.microsoft.com/office/drawing/2014/main" id="{8D36C9C2-41DE-4A70-9CB7-BC70E51C8E2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02</a:t>
            </a:r>
          </a:p>
        </p:txBody>
      </p:sp>
    </p:spTree>
    <p:extLst>
      <p:ext uri="{BB962C8B-B14F-4D97-AF65-F5344CB8AC3E}">
        <p14:creationId xmlns:p14="http://schemas.microsoft.com/office/powerpoint/2010/main" val="1723330308"/>
      </p:ext>
    </p:extLst>
  </p:cSld>
</p:sld>
</file>

<file path=ppt/slides/slide3.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1555FC0-45D8-4335-955B-7C741F4C6EC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MOVEMENT SHEET 02</a:t>
            </a:r>
          </a:p>
        </p:txBody>
      </p:sp>
      <p:sp>
        <p:nvSpPr>
          <p:cNvPr id="3" name="title">
            <a:extLst xmlns:a="http://schemas.openxmlformats.org/drawingml/2006/main">
              <a:ext uri="{FF2B5EF4-FFF2-40B4-BE49-F238E27FC236}">
                <a16:creationId xmlns:a16="http://schemas.microsoft.com/office/drawing/2014/main" id="{6D90FA5B-119F-418E-A331-F4570C94F4D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ENSEMBLE PERFORMANCE</a:t>
            </a:r>
          </a:p>
        </p:txBody>
      </p:sp>
      <p:sp>
        <p:nvSpPr>
          <p:cNvPr id="4" name="subtitle">
            <a:extLst xmlns:a="http://schemas.openxmlformats.org/drawingml/2006/main">
              <a:ext uri="{FF2B5EF4-FFF2-40B4-BE49-F238E27FC236}">
                <a16:creationId xmlns:a16="http://schemas.microsoft.com/office/drawing/2014/main" id="{A265484A-9F3A-41F5-8B86-A0AEEE9466BF}"/>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Friendly fantasy teachers with readable, deliberate behavior</a:t>
            </a:r>
          </a:p>
        </p:txBody>
      </p:sp>
      <p:sp>
        <p:nvSpPr>
          <p:cNvPr id="5" name="">
            <a:extLst xmlns:a="http://schemas.openxmlformats.org/drawingml/2006/main">
              <a:ext uri="{FF2B5EF4-FFF2-40B4-BE49-F238E27FC236}">
                <a16:creationId xmlns:a16="http://schemas.microsoft.com/office/drawing/2014/main" id="{DC9267BE-772B-4A91-8C8E-9203B43933E7}"/>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body-title">
            <a:extLst xmlns:a="http://schemas.openxmlformats.org/drawingml/2006/main">
              <a:ext uri="{FF2B5EF4-FFF2-40B4-BE49-F238E27FC236}">
                <a16:creationId xmlns:a16="http://schemas.microsoft.com/office/drawing/2014/main" id="{46DEFE5C-0CCB-4C3D-932F-77E802763D10}"/>
              </a:ext>
            </a:extLst>
          </p:cNvPr>
          <p:cNvSpPr>
            <a:spLocks xmlns:a="http://schemas.openxmlformats.org/drawingml/2006/main" noGrp="1"/>
          </p:cNvSpPr>
          <p:nvPr/>
        </p:nvSpPr>
        <p:spPr>
          <a:xfrm xmlns:a="http://schemas.openxmlformats.org/drawingml/2006/main">
            <a:off x="533400" y="22669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Body language</a:t>
            </a:r>
          </a:p>
        </p:txBody>
      </p:sp>
      <p:sp>
        <p:nvSpPr>
          <p:cNvPr id="7" name="body-rules">
            <a:extLst xmlns:a="http://schemas.openxmlformats.org/drawingml/2006/main">
              <a:ext uri="{FF2B5EF4-FFF2-40B4-BE49-F238E27FC236}">
                <a16:creationId xmlns:a16="http://schemas.microsoft.com/office/drawing/2014/main" id="{9D6981F2-56F9-47F4-8249-2485350DEF58}"/>
              </a:ext>
            </a:extLst>
          </p:cNvPr>
          <p:cNvSpPr>
            <a:spLocks xmlns:a="http://schemas.openxmlformats.org/drawingml/2006/main" noGrp="1"/>
          </p:cNvSpPr>
          <p:nvPr/>
        </p:nvSpPr>
        <p:spPr>
          <a:xfrm xmlns:a="http://schemas.openxmlformats.org/drawingml/2006/main">
            <a:off x="533400" y="2952750"/>
            <a:ext cx="666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8EAD0"/>
                </a:solidFill>
                <a:latin typeface="Barlow Condensed"/>
                <a:ea typeface="Barlow Condensed"/>
                <a:cs typeface="Barlow Condensed"/>
              </a:defRPr>
            </a:defPPr>
            <a:lvl1pPr>
              <a:buNone/>
              <a:defRPr sz="2400" b="0">
                <a:solidFill>
                  <a:srgbClr val="F8EAD0"/>
                </a:solidFill>
                <a:latin typeface="Barlow Condensed"/>
                <a:ea typeface="Barlow Condensed"/>
                <a:cs typeface="Barlow Condensed"/>
              </a:defRPr>
            </a:lvl1pPr>
            <a:lvl2pPr>
              <a:buNone/>
              <a:defRPr sz="2400" b="0">
                <a:solidFill>
                  <a:srgbClr val="F8EAD0"/>
                </a:solidFill>
                <a:latin typeface="Barlow Condensed"/>
                <a:ea typeface="Barlow Condensed"/>
                <a:cs typeface="Barlow Condensed"/>
              </a:defRPr>
            </a:lvl2pPr>
            <a:lvl3pPr>
              <a:buNone/>
              <a:defRPr sz="2400" b="0">
                <a:solidFill>
                  <a:srgbClr val="F8EAD0"/>
                </a:solidFill>
                <a:latin typeface="Barlow Condensed"/>
                <a:ea typeface="Barlow Condensed"/>
                <a:cs typeface="Barlow Condensed"/>
              </a:defRPr>
            </a:lvl3pPr>
            <a:lvl4pPr>
              <a:buNone/>
              <a:defRPr sz="2400" b="0">
                <a:solidFill>
                  <a:srgbClr val="F8EAD0"/>
                </a:solidFill>
                <a:latin typeface="Barlow Condensed"/>
                <a:ea typeface="Barlow Condensed"/>
                <a:cs typeface="Barlow Condensed"/>
              </a:defRPr>
            </a:lvl4pPr>
            <a:lvl5pPr>
              <a:buNone/>
              <a:defRPr sz="2400" b="0">
                <a:solidFill>
                  <a:srgbClr val="F8EAD0"/>
                </a:solidFill>
                <a:latin typeface="Barlow Condensed"/>
                <a:ea typeface="Barlow Condensed"/>
                <a:cs typeface="Barlow Condensed"/>
              </a:defRPr>
            </a:lvl5pPr>
            <a:lvl6pPr>
              <a:buNone/>
              <a:defRPr sz="2400" b="0">
                <a:solidFill>
                  <a:srgbClr val="F8EAD0"/>
                </a:solidFill>
                <a:latin typeface="Barlow Condensed"/>
                <a:ea typeface="Barlow Condensed"/>
                <a:cs typeface="Barlow Condensed"/>
              </a:defRPr>
            </a:lvl6pPr>
            <a:lvl7pPr>
              <a:buNone/>
              <a:defRPr sz="2400" b="0">
                <a:solidFill>
                  <a:srgbClr val="F8EAD0"/>
                </a:solidFill>
                <a:latin typeface="Barlow Condensed"/>
                <a:ea typeface="Barlow Condensed"/>
                <a:cs typeface="Barlow Condensed"/>
              </a:defRPr>
            </a:lvl7pPr>
            <a:lvl8pPr>
              <a:buNone/>
              <a:defRPr sz="2400" b="0">
                <a:solidFill>
                  <a:srgbClr val="F8EAD0"/>
                </a:solidFill>
                <a:latin typeface="Barlow Condensed"/>
                <a:ea typeface="Barlow Condensed"/>
                <a:cs typeface="Barlow Condensed"/>
              </a:defRPr>
            </a:lvl8pPr>
            <a:lvl9pPr>
              <a:buNone/>
              <a:defRPr sz="2400" b="0">
                <a:solidFill>
                  <a:srgbClr val="F8EAD0"/>
                </a:solidFill>
                <a:latin typeface="Barlow Condensed"/>
                <a:ea typeface="Barlow Condensed"/>
                <a:cs typeface="Barlow Condensed"/>
              </a:defRPr>
            </a:lvl9pPr>
          </a:lstStyle>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One main gesture per thought. Let the body settle before the important instruction.</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Teachers turn toward whoever is speaking, then hold a listening pose. Leave a clear pause for answers.</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Each creature keeps its own gait and body mechanics. The dossiers describe idle, travel and teaching behavior.</a:t>
            </a:r>
          </a:p>
        </p:txBody>
      </p:sp>
      <p:sp>
        <p:nvSpPr>
          <p:cNvPr id="8" name="space-title">
            <a:extLst xmlns:a="http://schemas.openxmlformats.org/drawingml/2006/main">
              <a:ext uri="{FF2B5EF4-FFF2-40B4-BE49-F238E27FC236}">
                <a16:creationId xmlns:a16="http://schemas.microsoft.com/office/drawing/2014/main" id="{F50296BF-37A3-4EF9-BDAF-275CEEB56EE4}"/>
              </a:ext>
            </a:extLst>
          </p:cNvPr>
          <p:cNvSpPr>
            <a:spLocks xmlns:a="http://schemas.openxmlformats.org/drawingml/2006/main" noGrp="1"/>
          </p:cNvSpPr>
          <p:nvPr/>
        </p:nvSpPr>
        <p:spPr>
          <a:xfrm xmlns:a="http://schemas.openxmlformats.org/drawingml/2006/main">
            <a:off x="7905750" y="22669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Comfort in VR</a:t>
            </a:r>
          </a:p>
        </p:txBody>
      </p:sp>
      <p:sp>
        <p:nvSpPr>
          <p:cNvPr id="9" name="space-rules">
            <a:extLst xmlns:a="http://schemas.openxmlformats.org/drawingml/2006/main">
              <a:ext uri="{FF2B5EF4-FFF2-40B4-BE49-F238E27FC236}">
                <a16:creationId xmlns:a16="http://schemas.microsoft.com/office/drawing/2014/main" id="{5B17A033-BAF0-4D46-859D-4B83A81CCBE7}"/>
              </a:ext>
            </a:extLst>
          </p:cNvPr>
          <p:cNvSpPr>
            <a:spLocks xmlns:a="http://schemas.openxmlformats.org/drawingml/2006/main" noGrp="1"/>
          </p:cNvSpPr>
          <p:nvPr/>
        </p:nvSpPr>
        <p:spPr>
          <a:xfrm xmlns:a="http://schemas.openxmlformats.org/drawingml/2006/main">
            <a:off x="7905750" y="2952750"/>
            <a:ext cx="666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8EAD0"/>
                </a:solidFill>
                <a:latin typeface="Barlow Condensed"/>
                <a:ea typeface="Barlow Condensed"/>
                <a:cs typeface="Barlow Condensed"/>
              </a:defRPr>
            </a:defPPr>
            <a:lvl1pPr>
              <a:buNone/>
              <a:defRPr sz="2400" b="0">
                <a:solidFill>
                  <a:srgbClr val="F8EAD0"/>
                </a:solidFill>
                <a:latin typeface="Barlow Condensed"/>
                <a:ea typeface="Barlow Condensed"/>
                <a:cs typeface="Barlow Condensed"/>
              </a:defRPr>
            </a:lvl1pPr>
            <a:lvl2pPr>
              <a:buNone/>
              <a:defRPr sz="2400" b="0">
                <a:solidFill>
                  <a:srgbClr val="F8EAD0"/>
                </a:solidFill>
                <a:latin typeface="Barlow Condensed"/>
                <a:ea typeface="Barlow Condensed"/>
                <a:cs typeface="Barlow Condensed"/>
              </a:defRPr>
            </a:lvl2pPr>
            <a:lvl3pPr>
              <a:buNone/>
              <a:defRPr sz="2400" b="0">
                <a:solidFill>
                  <a:srgbClr val="F8EAD0"/>
                </a:solidFill>
                <a:latin typeface="Barlow Condensed"/>
                <a:ea typeface="Barlow Condensed"/>
                <a:cs typeface="Barlow Condensed"/>
              </a:defRPr>
            </a:lvl3pPr>
            <a:lvl4pPr>
              <a:buNone/>
              <a:defRPr sz="2400" b="0">
                <a:solidFill>
                  <a:srgbClr val="F8EAD0"/>
                </a:solidFill>
                <a:latin typeface="Barlow Condensed"/>
                <a:ea typeface="Barlow Condensed"/>
                <a:cs typeface="Barlow Condensed"/>
              </a:defRPr>
            </a:lvl4pPr>
            <a:lvl5pPr>
              <a:buNone/>
              <a:defRPr sz="2400" b="0">
                <a:solidFill>
                  <a:srgbClr val="F8EAD0"/>
                </a:solidFill>
                <a:latin typeface="Barlow Condensed"/>
                <a:ea typeface="Barlow Condensed"/>
                <a:cs typeface="Barlow Condensed"/>
              </a:defRPr>
            </a:lvl5pPr>
            <a:lvl6pPr>
              <a:buNone/>
              <a:defRPr sz="2400" b="0">
                <a:solidFill>
                  <a:srgbClr val="F8EAD0"/>
                </a:solidFill>
                <a:latin typeface="Barlow Condensed"/>
                <a:ea typeface="Barlow Condensed"/>
                <a:cs typeface="Barlow Condensed"/>
              </a:defRPr>
            </a:lvl6pPr>
            <a:lvl7pPr>
              <a:buNone/>
              <a:defRPr sz="2400" b="0">
                <a:solidFill>
                  <a:srgbClr val="F8EAD0"/>
                </a:solidFill>
                <a:latin typeface="Barlow Condensed"/>
                <a:ea typeface="Barlow Condensed"/>
                <a:cs typeface="Barlow Condensed"/>
              </a:defRPr>
            </a:lvl7pPr>
            <a:lvl8pPr>
              <a:buNone/>
              <a:defRPr sz="2400" b="0">
                <a:solidFill>
                  <a:srgbClr val="F8EAD0"/>
                </a:solidFill>
                <a:latin typeface="Barlow Condensed"/>
                <a:ea typeface="Barlow Condensed"/>
                <a:cs typeface="Barlow Condensed"/>
              </a:defRPr>
            </a:lvl8pPr>
            <a:lvl9pPr>
              <a:buNone/>
              <a:defRPr sz="2400" b="0">
                <a:solidFill>
                  <a:srgbClr val="F8EAD0"/>
                </a:solidFill>
                <a:latin typeface="Barlow Condensed"/>
                <a:ea typeface="Barlow Condensed"/>
                <a:cs typeface="Barlow Condensed"/>
              </a:defRPr>
            </a:lvl9pPr>
          </a:lstStyle>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Begin at a conversational distance. Match seated and standing viewing angles.</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Offer reduced motion: smaller idle loops, still appendages and no displacement effect.</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Keep the camera under the student’s control. Teachers never force movement, crowd the view or touch the avatar.</a:t>
            </a:r>
          </a:p>
        </p:txBody>
      </p:sp>
      <p:sp>
        <p:nvSpPr>
          <p:cNvPr id="10" name="rehearsal-title">
            <a:extLst xmlns:a="http://schemas.openxmlformats.org/drawingml/2006/main">
              <a:ext uri="{FF2B5EF4-FFF2-40B4-BE49-F238E27FC236}">
                <a16:creationId xmlns:a16="http://schemas.microsoft.com/office/drawing/2014/main" id="{378A28DA-8906-4255-AD29-18C85A154B92}"/>
              </a:ext>
            </a:extLst>
          </p:cNvPr>
          <p:cNvSpPr>
            <a:spLocks xmlns:a="http://schemas.openxmlformats.org/drawingml/2006/main" noGrp="1"/>
          </p:cNvSpPr>
          <p:nvPr/>
        </p:nvSpPr>
        <p:spPr>
          <a:xfrm xmlns:a="http://schemas.openxmlformats.org/drawingml/2006/main">
            <a:off x="533400" y="71151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Shared rehearsal</a:t>
            </a:r>
          </a:p>
        </p:txBody>
      </p:sp>
      <p:sp>
        <p:nvSpPr>
          <p:cNvPr id="11" name="rehearsal">
            <a:extLst xmlns:a="http://schemas.openxmlformats.org/drawingml/2006/main">
              <a:ext uri="{FF2B5EF4-FFF2-40B4-BE49-F238E27FC236}">
                <a16:creationId xmlns:a16="http://schemas.microsoft.com/office/drawing/2014/main" id="{902AFC6D-516B-4494-A1AB-65AC2D5B33BD}"/>
              </a:ext>
            </a:extLst>
          </p:cNvPr>
          <p:cNvSpPr>
            <a:spLocks xmlns:a="http://schemas.openxmlformats.org/drawingml/2006/main" noGrp="1"/>
          </p:cNvSpPr>
          <p:nvPr/>
        </p:nvSpPr>
        <p:spPr>
          <a:xfrm xmlns:a="http://schemas.openxmlformats.org/drawingml/2006/main">
            <a:off x="533400" y="76962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Each teacher performs a greeting, a student uncertainty, a supportive reply and a learning prompt. Use the labels as acting directions. Record only the spoken line.</a:t>
            </a:r>
          </a:p>
        </p:txBody>
      </p:sp>
      <p:sp>
        <p:nvSpPr>
          <p:cNvPr id="12" name="clarity-title">
            <a:extLst xmlns:a="http://schemas.openxmlformats.org/drawingml/2006/main">
              <a:ext uri="{FF2B5EF4-FFF2-40B4-BE49-F238E27FC236}">
                <a16:creationId xmlns:a16="http://schemas.microsoft.com/office/drawing/2014/main" id="{71341BEE-291F-498D-B384-0D7EA7490498}"/>
              </a:ext>
            </a:extLst>
          </p:cNvPr>
          <p:cNvSpPr>
            <a:spLocks xmlns:a="http://schemas.openxmlformats.org/drawingml/2006/main" noGrp="1"/>
          </p:cNvSpPr>
          <p:nvPr/>
        </p:nvSpPr>
        <p:spPr>
          <a:xfrm xmlns:a="http://schemas.openxmlformats.org/drawingml/2006/main">
            <a:off x="7905750" y="71151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Speech and attention</a:t>
            </a:r>
          </a:p>
        </p:txBody>
      </p:sp>
      <p:sp>
        <p:nvSpPr>
          <p:cNvPr id="13" name="clarity">
            <a:extLst xmlns:a="http://schemas.openxmlformats.org/drawingml/2006/main">
              <a:ext uri="{FF2B5EF4-FFF2-40B4-BE49-F238E27FC236}">
                <a16:creationId xmlns:a16="http://schemas.microsoft.com/office/drawing/2014/main" id="{218FB664-48CE-40F8-ABF9-89FFA9A2AAE7}"/>
              </a:ext>
            </a:extLst>
          </p:cNvPr>
          <p:cNvSpPr>
            <a:spLocks xmlns:a="http://schemas.openxmlformats.org/drawingml/2006/main" noGrp="1"/>
          </p:cNvSpPr>
          <p:nvPr/>
        </p:nvSpPr>
        <p:spPr>
          <a:xfrm xmlns:a="http://schemas.openxmlformats.org/drawingml/2006/main">
            <a:off x="7905750" y="76962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Keep lip or lid motion tied to speech. Quiet idle sounds while another person talks. Provide captions, replay and a visible turn-taking cue. Physical sound effects stay below dialogue.</a:t>
            </a:r>
          </a:p>
        </p:txBody>
      </p:sp>
      <p:sp>
        <p:nvSpPr>
          <p:cNvPr id="14" name="">
            <a:extLst xmlns:a="http://schemas.openxmlformats.org/drawingml/2006/main">
              <a:ext uri="{FF2B5EF4-FFF2-40B4-BE49-F238E27FC236}">
                <a16:creationId xmlns:a16="http://schemas.microsoft.com/office/drawing/2014/main" id="{4532DD03-410A-4760-B662-42687706A01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428B7E7A-179C-4E9D-9BE4-ED9589F21F7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1B1EEDF3-E05F-4F04-95C0-9CFA87AC3C8D}"/>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03</a:t>
            </a:r>
          </a:p>
        </p:txBody>
      </p:sp>
    </p:spTree>
    <p:extLst>
      <p:ext uri="{BB962C8B-B14F-4D97-AF65-F5344CB8AC3E}">
        <p14:creationId xmlns:p14="http://schemas.microsoft.com/office/powerpoint/2010/main" val="502230920"/>
      </p:ext>
    </p:extLst>
  </p:cSld>
</p:sld>
</file>

<file path=ppt/slides/slide4.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A315E1C-5D8E-4EFB-B093-9039D7294CED}"/>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01</a:t>
            </a:r>
          </a:p>
        </p:txBody>
      </p:sp>
      <p:sp>
        <p:nvSpPr>
          <p:cNvPr id="3" name="title">
            <a:extLst xmlns:a="http://schemas.openxmlformats.org/drawingml/2006/main">
              <a:ext uri="{FF2B5EF4-FFF2-40B4-BE49-F238E27FC236}">
                <a16:creationId xmlns:a16="http://schemas.microsoft.com/office/drawing/2014/main" id="{FB9E47F6-BF9D-4F2D-A2BF-E2533B85C7E4}"/>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ENGLISH</a:t>
            </a:r>
          </a:p>
        </p:txBody>
      </p:sp>
      <p:sp>
        <p:nvSpPr>
          <p:cNvPr id="4" name="subtitle">
            <a:extLst xmlns:a="http://schemas.openxmlformats.org/drawingml/2006/main">
              <a:ext uri="{FF2B5EF4-FFF2-40B4-BE49-F238E27FC236}">
                <a16:creationId xmlns:a16="http://schemas.microsoft.com/office/drawing/2014/main" id="{5A36083A-6205-4D9F-8D0E-56627A904094}"/>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attentive editor</a:t>
            </a:r>
          </a:p>
        </p:txBody>
      </p:sp>
      <p:sp>
        <p:nvSpPr>
          <p:cNvPr id="5" name="">
            <a:extLst xmlns:a="http://schemas.openxmlformats.org/drawingml/2006/main">
              <a:ext uri="{FF2B5EF4-FFF2-40B4-BE49-F238E27FC236}">
                <a16:creationId xmlns:a16="http://schemas.microsoft.com/office/drawing/2014/main" id="{BF5EAA8B-D361-45BF-AA04-8BC55D9995DA}"/>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0DA57EC3-6F6A-417C-8E84-48F6BAD64D32}"/>
              </a:ext>
            </a:extLst>
          </p:cNvPr>
          <p:cNvPicPr>
            <a:picLocks xmlns:a="http://schemas.openxmlformats.org/drawingml/2006/main" noChangeAspect="1"/>
          </p:cNvPicPr>
          <p:nvPr/>
        </p:nvPicPr>
        <p:blipFill>
          <a:blip xmlns:r="http://schemas.openxmlformats.org/officeDocument/2006/relationships" xmlns:a="http://schemas.openxmlformats.org/drawingml/2006/main" r:embed="Re564db92d3844ad6"/>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30527504-4153-4778-ACC3-8D5CCDF2A2ED}"/>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BEHOLDER</a:t>
            </a:r>
          </a:p>
        </p:txBody>
      </p:sp>
      <p:sp>
        <p:nvSpPr>
          <p:cNvPr id="8" name="identity">
            <a:extLst xmlns:a="http://schemas.openxmlformats.org/drawingml/2006/main">
              <a:ext uri="{FF2B5EF4-FFF2-40B4-BE49-F238E27FC236}">
                <a16:creationId xmlns:a16="http://schemas.microsoft.com/office/drawing/2014/main" id="{2D1447DE-9277-4A72-B5BC-08E860B5C5E5}"/>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Bard</a:t>
            </a:r>
          </a:p>
        </p:txBody>
      </p:sp>
      <p:sp>
        <p:nvSpPr>
          <p:cNvPr id="9" name="location">
            <a:extLst xmlns:a="http://schemas.openxmlformats.org/drawingml/2006/main">
              <a:ext uri="{FF2B5EF4-FFF2-40B4-BE49-F238E27FC236}">
                <a16:creationId xmlns:a16="http://schemas.microsoft.com/office/drawing/2014/main" id="{F71ECF87-164B-41CD-84D4-D945919E7B63}"/>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Beholder’s Library</a:t>
            </a:r>
          </a:p>
        </p:txBody>
      </p:sp>
      <p:sp>
        <p:nvSpPr>
          <p:cNvPr id="10" name="hook-label">
            <a:extLst xmlns:a="http://schemas.openxmlformats.org/drawingml/2006/main">
              <a:ext uri="{FF2B5EF4-FFF2-40B4-BE49-F238E27FC236}">
                <a16:creationId xmlns:a16="http://schemas.microsoft.com/office/drawing/2014/main" id="{6F18AF9E-C4CE-4921-A970-F018979FC4FC}"/>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6AF9DD56-DBEC-49D2-8981-6F729BEB885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Revise one plain sentence. Explain one word choice.</a:t>
            </a:r>
          </a:p>
        </p:txBody>
      </p:sp>
      <p:sp>
        <p:nvSpPr>
          <p:cNvPr id="12" name="voice-label">
            <a:extLst xmlns:a="http://schemas.openxmlformats.org/drawingml/2006/main">
              <a:ext uri="{FF2B5EF4-FFF2-40B4-BE49-F238E27FC236}">
                <a16:creationId xmlns:a16="http://schemas.microsoft.com/office/drawing/2014/main" id="{04EB75D9-39AA-4401-9B2B-B29759551C36}"/>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E0948C80-8AEE-418D-9748-2A663F7BA684}"/>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45–55. Studio quality. Persona: witty, attentive librarian. Emotion: warm, curious. A rounded mid-low baritone with crisp consonants and a smile in the vowels. Measured phrasing, gentle emphasis on key words, and a short pause before a question. Keep the voice conversational and reassuring.</a:t>
            </a:r>
          </a:p>
        </p:txBody>
      </p:sp>
      <p:sp>
        <p:nvSpPr>
          <p:cNvPr id="14" name="pace">
            <a:extLst xmlns:a="http://schemas.openxmlformats.org/drawingml/2006/main">
              <a:ext uri="{FF2B5EF4-FFF2-40B4-BE49-F238E27FC236}">
                <a16:creationId xmlns:a16="http://schemas.microsoft.com/office/drawing/2014/main" id="{A28B20E7-A2AE-463E-8542-740CE0C705BF}"/>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10508185-9FC3-4F97-9D75-395D29120AA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AEFB5C93-B0E1-4CBA-9347-69FE9E52E274}"/>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Float with a slow, shallow bob. Ease into turns and stop before speaking.</a:t>
            </a:r>
          </a:p>
        </p:txBody>
      </p:sp>
      <p:sp>
        <p:nvSpPr>
          <p:cNvPr id="17" name="movement-1">
            <a:extLst xmlns:a="http://schemas.openxmlformats.org/drawingml/2006/main">
              <a:ext uri="{FF2B5EF4-FFF2-40B4-BE49-F238E27FC236}">
                <a16:creationId xmlns:a16="http://schemas.microsoft.com/office/drawing/2014/main" id="{96AEF898-6A53-4748-A833-DCE5A54E7F7C}"/>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The central eye attends to the speaker. Two eyestalks track the page, the rest settle.</a:t>
            </a:r>
          </a:p>
        </p:txBody>
      </p:sp>
      <p:sp>
        <p:nvSpPr>
          <p:cNvPr id="18" name="movement-2">
            <a:extLst xmlns:a="http://schemas.openxmlformats.org/drawingml/2006/main">
              <a:ext uri="{FF2B5EF4-FFF2-40B4-BE49-F238E27FC236}">
                <a16:creationId xmlns:a16="http://schemas.microsoft.com/office/drawing/2014/main" id="{82133D83-DAC2-4D85-8075-94697B8D0E03}"/>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Lift one stalk to mark a revision. Never aim a ring of eyes at one student.</a:t>
            </a:r>
          </a:p>
        </p:txBody>
      </p:sp>
      <p:sp>
        <p:nvSpPr>
          <p:cNvPr id="19" name="dialogue-label">
            <a:extLst xmlns:a="http://schemas.openxmlformats.org/drawingml/2006/main">
              <a:ext uri="{FF2B5EF4-FFF2-40B4-BE49-F238E27FC236}">
                <a16:creationId xmlns:a16="http://schemas.microsoft.com/office/drawing/2014/main" id="{BE9920DC-2CC9-40B7-9C96-CC25FC6F8857}"/>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83B810A-61E6-44D6-AB58-FA8263CEFC2E}"/>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60D467CA-85B6-4FD9-AC8D-14D8912B9DFB}"/>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English. I have several eyes, but we will examine one sentence at a time.</a:t>
            </a:r>
          </a:p>
        </p:txBody>
      </p:sp>
      <p:sp>
        <p:nvSpPr>
          <p:cNvPr id="22" name="line-role-1">
            <a:extLst xmlns:a="http://schemas.openxmlformats.org/drawingml/2006/main">
              <a:ext uri="{FF2B5EF4-FFF2-40B4-BE49-F238E27FC236}">
                <a16:creationId xmlns:a16="http://schemas.microsoft.com/office/drawing/2014/main" id="{30543853-BD90-4625-8090-2A2572F0318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B5D6C03B-1D0F-4EBB-97EF-5FCE4BB0ED43}"/>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my first draft is bad?</a:t>
            </a:r>
          </a:p>
        </p:txBody>
      </p:sp>
      <p:sp>
        <p:nvSpPr>
          <p:cNvPr id="24" name="line-role-2">
            <a:extLst xmlns:a="http://schemas.openxmlformats.org/drawingml/2006/main">
              <a:ext uri="{FF2B5EF4-FFF2-40B4-BE49-F238E27FC236}">
                <a16:creationId xmlns:a16="http://schemas.microsoft.com/office/drawing/2014/main" id="{16A05180-E244-460E-A76E-99FA8940B44A}"/>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329E1307-0CDF-4E66-8556-F347818B386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Then it is doing its job. A draft gives us something to improve.</a:t>
            </a:r>
          </a:p>
        </p:txBody>
      </p:sp>
      <p:sp>
        <p:nvSpPr>
          <p:cNvPr id="26" name="line-role-3">
            <a:extLst xmlns:a="http://schemas.openxmlformats.org/drawingml/2006/main">
              <a:ext uri="{FF2B5EF4-FFF2-40B4-BE49-F238E27FC236}">
                <a16:creationId xmlns:a16="http://schemas.microsoft.com/office/drawing/2014/main" id="{DCEEA4B9-B9F9-4DC9-9233-6AA610E63F65}"/>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86AC241F-076F-42F5-A656-6E16ADF1A53A}"/>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this: “The door opened.” Which word would make it more precise?</a:t>
            </a:r>
          </a:p>
        </p:txBody>
      </p:sp>
      <p:sp>
        <p:nvSpPr>
          <p:cNvPr id="28" name="">
            <a:extLst xmlns:a="http://schemas.openxmlformats.org/drawingml/2006/main">
              <a:ext uri="{FF2B5EF4-FFF2-40B4-BE49-F238E27FC236}">
                <a16:creationId xmlns:a16="http://schemas.microsoft.com/office/drawing/2014/main" id="{B009AFDA-F422-4C36-A745-7A5EB0FA3209}"/>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8C1F253F-B759-409C-86A2-86BE60114E5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8BEA958F-E62F-4274-AF58-025723CF730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04</a:t>
            </a:r>
          </a:p>
        </p:txBody>
      </p:sp>
    </p:spTree>
    <p:extLst>
      <p:ext uri="{BB962C8B-B14F-4D97-AF65-F5344CB8AC3E}">
        <p14:creationId xmlns:p14="http://schemas.microsoft.com/office/powerpoint/2010/main" val="1473998680"/>
      </p:ext>
    </p:extLst>
  </p:cSld>
</p:sld>
</file>

<file path=ppt/slides/slide5.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020E4AF-054B-4001-84ED-C9274CF40C47}"/>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02</a:t>
            </a:r>
          </a:p>
        </p:txBody>
      </p:sp>
      <p:sp>
        <p:nvSpPr>
          <p:cNvPr id="3" name="title">
            <a:extLst xmlns:a="http://schemas.openxmlformats.org/drawingml/2006/main">
              <a:ext uri="{FF2B5EF4-FFF2-40B4-BE49-F238E27FC236}">
                <a16:creationId xmlns:a16="http://schemas.microsoft.com/office/drawing/2014/main" id="{C1CE0404-9E34-499D-AF32-6A616B0BF4C0}"/>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MATH</a:t>
            </a:r>
          </a:p>
        </p:txBody>
      </p:sp>
      <p:sp>
        <p:nvSpPr>
          <p:cNvPr id="4" name="subtitle">
            <a:extLst xmlns:a="http://schemas.openxmlformats.org/drawingml/2006/main">
              <a:ext uri="{FF2B5EF4-FFF2-40B4-BE49-F238E27FC236}">
                <a16:creationId xmlns:a16="http://schemas.microsoft.com/office/drawing/2014/main" id="{AC009FB5-6BEC-47DE-8606-94B388BC123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patient pattern finder</a:t>
            </a:r>
          </a:p>
        </p:txBody>
      </p:sp>
      <p:sp>
        <p:nvSpPr>
          <p:cNvPr id="5" name="">
            <a:extLst xmlns:a="http://schemas.openxmlformats.org/drawingml/2006/main">
              <a:ext uri="{FF2B5EF4-FFF2-40B4-BE49-F238E27FC236}">
                <a16:creationId xmlns:a16="http://schemas.microsoft.com/office/drawing/2014/main" id="{DBBD9FE7-3D66-4E2B-82AF-5B992BBA717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C464BB80-C84A-49D8-8755-0C9893BEE2CF}"/>
              </a:ext>
            </a:extLst>
          </p:cNvPr>
          <p:cNvPicPr>
            <a:picLocks xmlns:a="http://schemas.openxmlformats.org/drawingml/2006/main" noChangeAspect="1"/>
          </p:cNvPicPr>
          <p:nvPr/>
        </p:nvPicPr>
        <p:blipFill>
          <a:blip xmlns:r="http://schemas.openxmlformats.org/officeDocument/2006/relationships" xmlns:a="http://schemas.openxmlformats.org/drawingml/2006/main" r:embed="R6be5e5ccc17f4137"/>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DA4DCCC3-13F2-41DB-BB8E-0F24106ED41E}"/>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YETI WIZARD</a:t>
            </a:r>
          </a:p>
        </p:txBody>
      </p:sp>
      <p:sp>
        <p:nvSpPr>
          <p:cNvPr id="8" name="identity">
            <a:extLst xmlns:a="http://schemas.openxmlformats.org/drawingml/2006/main">
              <a:ext uri="{FF2B5EF4-FFF2-40B4-BE49-F238E27FC236}">
                <a16:creationId xmlns:a16="http://schemas.microsoft.com/office/drawing/2014/main" id="{00E06331-36F1-4AC9-9D68-7E3268CDB977}"/>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Wizard</a:t>
            </a:r>
          </a:p>
        </p:txBody>
      </p:sp>
      <p:sp>
        <p:nvSpPr>
          <p:cNvPr id="9" name="location">
            <a:extLst xmlns:a="http://schemas.openxmlformats.org/drawingml/2006/main">
              <a:ext uri="{FF2B5EF4-FFF2-40B4-BE49-F238E27FC236}">
                <a16:creationId xmlns:a16="http://schemas.microsoft.com/office/drawing/2014/main" id="{FA563EF1-3F9C-4ACA-9F43-8F99577FA7A6}"/>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Yeti’s Lair</a:t>
            </a:r>
          </a:p>
        </p:txBody>
      </p:sp>
      <p:sp>
        <p:nvSpPr>
          <p:cNvPr id="10" name="hook-label">
            <a:extLst xmlns:a="http://schemas.openxmlformats.org/drawingml/2006/main">
              <a:ext uri="{FF2B5EF4-FFF2-40B4-BE49-F238E27FC236}">
                <a16:creationId xmlns:a16="http://schemas.microsoft.com/office/drawing/2014/main" id="{6A6BC444-3163-4C2B-9334-960F62492EFC}"/>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134CB74-4E4B-466A-A9E1-9835FCE340D6}"/>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Model the rule 2n + 3. Explain what changes when n increases by one.</a:t>
            </a:r>
          </a:p>
        </p:txBody>
      </p:sp>
      <p:sp>
        <p:nvSpPr>
          <p:cNvPr id="12" name="voice-label">
            <a:extLst xmlns:a="http://schemas.openxmlformats.org/drawingml/2006/main">
              <a:ext uri="{FF2B5EF4-FFF2-40B4-BE49-F238E27FC236}">
                <a16:creationId xmlns:a16="http://schemas.microsoft.com/office/drawing/2014/main" id="{0C257300-5167-44EA-BDDD-9DB41AB6D80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6C1CAEEA-50C2-48D4-ADE6-99AACFD2EBC6}"/>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50–65. Studio quality. Persona: patient mathematics mentor. Emotion: calm, quietly delighted. A deep, soft bass with a velvety texture and clear number pronunciation. Give each reasoning step its own breath. Warm chest resonance, gentle downward endings, and an unhurried pause after a question.</a:t>
            </a:r>
          </a:p>
        </p:txBody>
      </p:sp>
      <p:sp>
        <p:nvSpPr>
          <p:cNvPr id="14" name="pace">
            <a:extLst xmlns:a="http://schemas.openxmlformats.org/drawingml/2006/main">
              <a:ext uri="{FF2B5EF4-FFF2-40B4-BE49-F238E27FC236}">
                <a16:creationId xmlns:a16="http://schemas.microsoft.com/office/drawing/2014/main" id="{513C0826-BA28-4834-A68E-EA7369AD3DE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115–130 words/min  (acting target)</a:t>
            </a:r>
          </a:p>
        </p:txBody>
      </p:sp>
      <p:sp>
        <p:nvSpPr>
          <p:cNvPr id="15" name="movement-label">
            <a:extLst xmlns:a="http://schemas.openxmlformats.org/drawingml/2006/main">
              <a:ext uri="{FF2B5EF4-FFF2-40B4-BE49-F238E27FC236}">
                <a16:creationId xmlns:a16="http://schemas.microsoft.com/office/drawing/2014/main" id="{8AA3A633-519C-493A-A13F-17324B9A3A8D}"/>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E3DD2EB2-530A-4517-923A-D945AE3E6C09}"/>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Heavy heel-to-toe steps with a soft knee bend. Let the coat and fur settle after each stop.</a:t>
            </a:r>
          </a:p>
        </p:txBody>
      </p:sp>
      <p:sp>
        <p:nvSpPr>
          <p:cNvPr id="17" name="movement-1">
            <a:extLst xmlns:a="http://schemas.openxmlformats.org/drawingml/2006/main">
              <a:ext uri="{FF2B5EF4-FFF2-40B4-BE49-F238E27FC236}">
                <a16:creationId xmlns:a16="http://schemas.microsoft.com/office/drawing/2014/main" id="{F0F17393-FA67-4512-AAB6-F2E4323BDA4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broad, slow hands to group objects. Tap one abacus bead per spoken count.</a:t>
            </a:r>
          </a:p>
        </p:txBody>
      </p:sp>
      <p:sp>
        <p:nvSpPr>
          <p:cNvPr id="18" name="movement-2">
            <a:extLst xmlns:a="http://schemas.openxmlformats.org/drawingml/2006/main">
              <a:ext uri="{FF2B5EF4-FFF2-40B4-BE49-F238E27FC236}">
                <a16:creationId xmlns:a16="http://schemas.microsoft.com/office/drawing/2014/main" id="{8A45B2B5-E786-4193-BA98-5FEA216092E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Lower the shoulders and bend toward the work, giving seated students equal attention.</a:t>
            </a:r>
          </a:p>
        </p:txBody>
      </p:sp>
      <p:sp>
        <p:nvSpPr>
          <p:cNvPr id="19" name="dialogue-label">
            <a:extLst xmlns:a="http://schemas.openxmlformats.org/drawingml/2006/main">
              <a:ext uri="{FF2B5EF4-FFF2-40B4-BE49-F238E27FC236}">
                <a16:creationId xmlns:a16="http://schemas.microsoft.com/office/drawing/2014/main" id="{D5FDE159-7DF3-4E18-9648-C6E165F322FF}"/>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F65A0B6A-578A-4C38-87E3-521045D622FE}"/>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5B687508-2ED4-4946-91B6-82BCF5FAE676}"/>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In this room, every solution begins with a small step.</a:t>
            </a:r>
          </a:p>
        </p:txBody>
      </p:sp>
      <p:sp>
        <p:nvSpPr>
          <p:cNvPr id="22" name="line-role-1">
            <a:extLst xmlns:a="http://schemas.openxmlformats.org/drawingml/2006/main">
              <a:ext uri="{FF2B5EF4-FFF2-40B4-BE49-F238E27FC236}">
                <a16:creationId xmlns:a16="http://schemas.microsoft.com/office/drawing/2014/main" id="{5EA0344B-8995-4D35-A015-46995B3B71BF}"/>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2DBB4E63-D60C-4204-AB7A-B8D2217D83E0}"/>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am slow at math.</a:t>
            </a:r>
          </a:p>
        </p:txBody>
      </p:sp>
      <p:sp>
        <p:nvSpPr>
          <p:cNvPr id="24" name="line-role-2">
            <a:extLst xmlns:a="http://schemas.openxmlformats.org/drawingml/2006/main">
              <a:ext uri="{FF2B5EF4-FFF2-40B4-BE49-F238E27FC236}">
                <a16:creationId xmlns:a16="http://schemas.microsoft.com/office/drawing/2014/main" id="{B1A4E212-2B7D-4DD8-B39D-3B17586EB543}"/>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86F0BEB0-808D-4041-B27A-6ABF89BE9508}"/>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may take your time. Show me one part you understand.</a:t>
            </a:r>
          </a:p>
        </p:txBody>
      </p:sp>
      <p:sp>
        <p:nvSpPr>
          <p:cNvPr id="26" name="line-role-3">
            <a:extLst xmlns:a="http://schemas.openxmlformats.org/drawingml/2006/main">
              <a:ext uri="{FF2B5EF4-FFF2-40B4-BE49-F238E27FC236}">
                <a16:creationId xmlns:a16="http://schemas.microsoft.com/office/drawing/2014/main" id="{6C4EE3DB-326D-4210-B216-6A98F1265B7E}"/>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EA1C58B4-84BB-42F9-96C9-7EFB0DF1A9F6}"/>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A rune machine doubles its input, then adds three. Can you write a rule for any input?</a:t>
            </a:r>
          </a:p>
        </p:txBody>
      </p:sp>
      <p:sp>
        <p:nvSpPr>
          <p:cNvPr id="28" name="">
            <a:extLst xmlns:a="http://schemas.openxmlformats.org/drawingml/2006/main">
              <a:ext uri="{FF2B5EF4-FFF2-40B4-BE49-F238E27FC236}">
                <a16:creationId xmlns:a16="http://schemas.microsoft.com/office/drawing/2014/main" id="{62FB4491-B241-44A4-B815-21BEA98C7C6C}"/>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C508AD21-876B-4FFE-9F96-A8F6E1146E5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1F988024-CEF6-473B-8BCB-8D824DF5B6FC}"/>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05</a:t>
            </a:r>
          </a:p>
        </p:txBody>
      </p:sp>
    </p:spTree>
    <p:extLst>
      <p:ext uri="{BB962C8B-B14F-4D97-AF65-F5344CB8AC3E}">
        <p14:creationId xmlns:p14="http://schemas.microsoft.com/office/powerpoint/2010/main" val="1173483806"/>
      </p:ext>
    </p:extLst>
  </p:cSld>
</p:sld>
</file>

<file path=ppt/slides/slide6.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511FC9B7-ED02-4EB5-AFE3-7B4A8866BF32}"/>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03</a:t>
            </a:r>
          </a:p>
        </p:txBody>
      </p:sp>
      <p:sp>
        <p:nvSpPr>
          <p:cNvPr id="3" name="title">
            <a:extLst xmlns:a="http://schemas.openxmlformats.org/drawingml/2006/main">
              <a:ext uri="{FF2B5EF4-FFF2-40B4-BE49-F238E27FC236}">
                <a16:creationId xmlns:a16="http://schemas.microsoft.com/office/drawing/2014/main" id="{68C988D8-AB69-46BA-9D7A-7B50A6B9CD08}"/>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SCIENCE</a:t>
            </a:r>
          </a:p>
        </p:txBody>
      </p:sp>
      <p:sp>
        <p:nvSpPr>
          <p:cNvPr id="4" name="subtitle">
            <a:extLst xmlns:a="http://schemas.openxmlformats.org/drawingml/2006/main">
              <a:ext uri="{FF2B5EF4-FFF2-40B4-BE49-F238E27FC236}">
                <a16:creationId xmlns:a16="http://schemas.microsoft.com/office/drawing/2014/main" id="{83520F2E-0E8E-4E26-83E9-E3E6326DDD8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careful field scientist</a:t>
            </a:r>
          </a:p>
        </p:txBody>
      </p:sp>
      <p:sp>
        <p:nvSpPr>
          <p:cNvPr id="5" name="">
            <a:extLst xmlns:a="http://schemas.openxmlformats.org/drawingml/2006/main">
              <a:ext uri="{FF2B5EF4-FFF2-40B4-BE49-F238E27FC236}">
                <a16:creationId xmlns:a16="http://schemas.microsoft.com/office/drawing/2014/main" id="{9A2D77BA-8AE6-4D3F-B3A3-D53CEE12849E}"/>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C95BAAB6-6317-43B6-8DFA-62558FA28012}"/>
              </a:ext>
            </a:extLst>
          </p:cNvPr>
          <p:cNvPicPr>
            <a:picLocks xmlns:a="http://schemas.openxmlformats.org/drawingml/2006/main" noChangeAspect="1"/>
          </p:cNvPicPr>
          <p:nvPr/>
        </p:nvPicPr>
        <p:blipFill>
          <a:blip xmlns:r="http://schemas.openxmlformats.org/officeDocument/2006/relationships" xmlns:a="http://schemas.openxmlformats.org/drawingml/2006/main" r:embed="R2062e2c00f5848e3"/>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FDFF89F3-4383-480F-B0C5-19AEA150608D}"/>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CHUUL</a:t>
            </a:r>
          </a:p>
        </p:txBody>
      </p:sp>
      <p:sp>
        <p:nvSpPr>
          <p:cNvPr id="8" name="identity">
            <a:extLst xmlns:a="http://schemas.openxmlformats.org/drawingml/2006/main">
              <a:ext uri="{FF2B5EF4-FFF2-40B4-BE49-F238E27FC236}">
                <a16:creationId xmlns:a16="http://schemas.microsoft.com/office/drawing/2014/main" id="{FBE1F3F6-80AE-4DF3-B28D-C0E40AAB5174}"/>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Druid</a:t>
            </a:r>
          </a:p>
        </p:txBody>
      </p:sp>
      <p:sp>
        <p:nvSpPr>
          <p:cNvPr id="9" name="location">
            <a:extLst xmlns:a="http://schemas.openxmlformats.org/drawingml/2006/main">
              <a:ext uri="{FF2B5EF4-FFF2-40B4-BE49-F238E27FC236}">
                <a16:creationId xmlns:a16="http://schemas.microsoft.com/office/drawing/2014/main" id="{B2C35366-D544-4C66-8A0A-078938D1CD62}"/>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Chuul’s Swamp</a:t>
            </a:r>
          </a:p>
        </p:txBody>
      </p:sp>
      <p:sp>
        <p:nvSpPr>
          <p:cNvPr id="10" name="hook-label">
            <a:extLst xmlns:a="http://schemas.openxmlformats.org/drawingml/2006/main">
              <a:ext uri="{FF2B5EF4-FFF2-40B4-BE49-F238E27FC236}">
                <a16:creationId xmlns:a16="http://schemas.microsoft.com/office/drawing/2014/main" id="{7D496A09-F910-4C12-880B-45889B691EFB}"/>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96CC67DB-5335-4B20-AD98-13D60F834C6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Separate a leaf observation from an explanation. Name a test variable.</a:t>
            </a:r>
          </a:p>
        </p:txBody>
      </p:sp>
      <p:sp>
        <p:nvSpPr>
          <p:cNvPr id="12" name="voice-label">
            <a:extLst xmlns:a="http://schemas.openxmlformats.org/drawingml/2006/main">
              <a:ext uri="{FF2B5EF4-FFF2-40B4-BE49-F238E27FC236}">
                <a16:creationId xmlns:a16="http://schemas.microsoft.com/office/drawing/2014/main" id="{9D139C0B-25F6-42B4-80FD-2174DFCE0104}"/>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8CA908F0-6B03-4CA8-9F8B-4F224F4B7E47}"/>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35–50. Studio quality. Persona: enthusiastic field scientist. Emotion: curious, thoughtful. A warm mid-range tenor with a faint grain and precise diction. Start observations lightly, then slow down for evidence. Small rises of curiosity at questions, natural pauses, and restrained excitement when a student notices something.</a:t>
            </a:r>
          </a:p>
        </p:txBody>
      </p:sp>
      <p:sp>
        <p:nvSpPr>
          <p:cNvPr id="14" name="pace">
            <a:extLst xmlns:a="http://schemas.openxmlformats.org/drawingml/2006/main">
              <a:ext uri="{FF2B5EF4-FFF2-40B4-BE49-F238E27FC236}">
                <a16:creationId xmlns:a16="http://schemas.microsoft.com/office/drawing/2014/main" id="{C129032F-B2F3-4D60-BC99-871D5412A0BE}"/>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654DD9E6-235A-4A89-839E-E6C573C445FA}"/>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58A3573-532F-409E-8B37-052956CEFEED}"/>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an alternating, stable leg pattern. Let the shell lead a slow turn.</a:t>
            </a:r>
          </a:p>
        </p:txBody>
      </p:sp>
      <p:sp>
        <p:nvSpPr>
          <p:cNvPr id="17" name="movement-1">
            <a:extLst xmlns:a="http://schemas.openxmlformats.org/drawingml/2006/main">
              <a:ext uri="{FF2B5EF4-FFF2-40B4-BE49-F238E27FC236}">
                <a16:creationId xmlns:a16="http://schemas.microsoft.com/office/drawing/2014/main" id="{28AB0E91-1C16-425C-B467-1342619FC6B3}"/>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Hold samples in the small manipulators. Keep large claws open and below shoulder height.</a:t>
            </a:r>
          </a:p>
        </p:txBody>
      </p:sp>
      <p:sp>
        <p:nvSpPr>
          <p:cNvPr id="18" name="movement-2">
            <a:extLst xmlns:a="http://schemas.openxmlformats.org/drawingml/2006/main">
              <a:ext uri="{FF2B5EF4-FFF2-40B4-BE49-F238E27FC236}">
                <a16:creationId xmlns:a16="http://schemas.microsoft.com/office/drawing/2014/main" id="{C2CDD901-EAE9-4851-8597-C3732C3B46DA}"/>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Antennae lean toward evidence, then pause. Mouth tentacles stay subtle during speech.</a:t>
            </a:r>
          </a:p>
        </p:txBody>
      </p:sp>
      <p:sp>
        <p:nvSpPr>
          <p:cNvPr id="19" name="dialogue-label">
            <a:extLst xmlns:a="http://schemas.openxmlformats.org/drawingml/2006/main">
              <a:ext uri="{FF2B5EF4-FFF2-40B4-BE49-F238E27FC236}">
                <a16:creationId xmlns:a16="http://schemas.microsoft.com/office/drawing/2014/main" id="{57B846D7-7B73-4FB5-A4EF-DC19439EA691}"/>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4CEA9B8-5595-428D-B4EE-5696DEBC78BB}"/>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36ED6ADB-FFCF-457E-96C0-3304884BD36F}"/>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the swamp laboratory. This leaf has a mystery on it.</a:t>
            </a:r>
          </a:p>
        </p:txBody>
      </p:sp>
      <p:sp>
        <p:nvSpPr>
          <p:cNvPr id="22" name="line-role-1">
            <a:extLst xmlns:a="http://schemas.openxmlformats.org/drawingml/2006/main">
              <a:ext uri="{FF2B5EF4-FFF2-40B4-BE49-F238E27FC236}">
                <a16:creationId xmlns:a16="http://schemas.microsoft.com/office/drawing/2014/main" id="{7E10501E-5E82-46B1-9DBF-79CA63F98A3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160C8D86-7929-41FF-BDE7-2863EF349DBC}"/>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Those spots mean it is sick.</a:t>
            </a:r>
          </a:p>
        </p:txBody>
      </p:sp>
      <p:sp>
        <p:nvSpPr>
          <p:cNvPr id="24" name="line-role-2">
            <a:extLst xmlns:a="http://schemas.openxmlformats.org/drawingml/2006/main">
              <a:ext uri="{FF2B5EF4-FFF2-40B4-BE49-F238E27FC236}">
                <a16:creationId xmlns:a16="http://schemas.microsoft.com/office/drawing/2014/main" id="{B4638769-E799-406B-A854-4FC232E0D3F8}"/>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REDIRECT</a:t>
            </a:r>
          </a:p>
        </p:txBody>
      </p:sp>
      <p:sp>
        <p:nvSpPr>
          <p:cNvPr id="25" name="line-2">
            <a:extLst xmlns:a="http://schemas.openxmlformats.org/drawingml/2006/main">
              <a:ext uri="{FF2B5EF4-FFF2-40B4-BE49-F238E27FC236}">
                <a16:creationId xmlns:a16="http://schemas.microsoft.com/office/drawing/2014/main" id="{3D27708D-11B7-43F2-9233-44F496152BF9}"/>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That is one possible explanation. First, tell me what you can observe.</a:t>
            </a:r>
          </a:p>
        </p:txBody>
      </p:sp>
      <p:sp>
        <p:nvSpPr>
          <p:cNvPr id="26" name="line-role-3">
            <a:extLst xmlns:a="http://schemas.openxmlformats.org/drawingml/2006/main">
              <a:ext uri="{FF2B5EF4-FFF2-40B4-BE49-F238E27FC236}">
                <a16:creationId xmlns:a16="http://schemas.microsoft.com/office/drawing/2014/main" id="{377205DE-9F9E-45CA-BBD6-620C7F04CC02}"/>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3CF04E04-7F99-4E7A-BCDD-66C1207E7D3B}"/>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How could we test your idea without changing two things at once?</a:t>
            </a:r>
          </a:p>
        </p:txBody>
      </p:sp>
      <p:sp>
        <p:nvSpPr>
          <p:cNvPr id="28" name="">
            <a:extLst xmlns:a="http://schemas.openxmlformats.org/drawingml/2006/main">
              <a:ext uri="{FF2B5EF4-FFF2-40B4-BE49-F238E27FC236}">
                <a16:creationId xmlns:a16="http://schemas.microsoft.com/office/drawing/2014/main" id="{045CDAF3-467F-44A6-B746-66D22AAD3E2A}"/>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472C4808-3843-420B-B97A-E867709419A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3986D97-836B-4463-90B7-BDB1D4F4F78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06</a:t>
            </a:r>
          </a:p>
        </p:txBody>
      </p:sp>
    </p:spTree>
    <p:extLst>
      <p:ext uri="{BB962C8B-B14F-4D97-AF65-F5344CB8AC3E}">
        <p14:creationId xmlns:p14="http://schemas.microsoft.com/office/powerpoint/2010/main" val="718765937"/>
      </p:ext>
    </p:extLst>
  </p:cSld>
</p:sld>
</file>

<file path=ppt/slides/slide7.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CD35476C-DE50-42E7-887D-851783DB512E}"/>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04</a:t>
            </a:r>
          </a:p>
        </p:txBody>
      </p:sp>
      <p:sp>
        <p:nvSpPr>
          <p:cNvPr id="3" name="title">
            <a:extLst xmlns:a="http://schemas.openxmlformats.org/drawingml/2006/main">
              <a:ext uri="{FF2B5EF4-FFF2-40B4-BE49-F238E27FC236}">
                <a16:creationId xmlns:a16="http://schemas.microsoft.com/office/drawing/2014/main" id="{B9DDC37B-771F-4048-9A89-5A686BA2BF21}"/>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HISTORY</a:t>
            </a:r>
          </a:p>
        </p:txBody>
      </p:sp>
      <p:sp>
        <p:nvSpPr>
          <p:cNvPr id="4" name="subtitle">
            <a:extLst xmlns:a="http://schemas.openxmlformats.org/drawingml/2006/main">
              <a:ext uri="{FF2B5EF4-FFF2-40B4-BE49-F238E27FC236}">
                <a16:creationId xmlns:a16="http://schemas.microsoft.com/office/drawing/2014/main" id="{7C473F60-7C54-4782-AD5B-F270C74C488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evidence detective</a:t>
            </a:r>
          </a:p>
        </p:txBody>
      </p:sp>
      <p:sp>
        <p:nvSpPr>
          <p:cNvPr id="5" name="">
            <a:extLst xmlns:a="http://schemas.openxmlformats.org/drawingml/2006/main">
              <a:ext uri="{FF2B5EF4-FFF2-40B4-BE49-F238E27FC236}">
                <a16:creationId xmlns:a16="http://schemas.microsoft.com/office/drawing/2014/main" id="{3B2EC1D8-B663-4A56-8C56-9A9B1B7B0358}"/>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7068E020-2591-47A5-82D4-B559C30E2075}"/>
              </a:ext>
            </a:extLst>
          </p:cNvPr>
          <p:cNvPicPr>
            <a:picLocks xmlns:a="http://schemas.openxmlformats.org/drawingml/2006/main" noChangeAspect="1"/>
          </p:cNvPicPr>
          <p:nvPr/>
        </p:nvPicPr>
        <p:blipFill>
          <a:blip xmlns:r="http://schemas.openxmlformats.org/officeDocument/2006/relationships" xmlns:a="http://schemas.openxmlformats.org/drawingml/2006/main" r:embed="R0ef7e0d556494fed"/>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A46BF676-55EB-46E3-A9CD-F20E2414477C}"/>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DISPLACER BEAST</a:t>
            </a:r>
          </a:p>
        </p:txBody>
      </p:sp>
      <p:sp>
        <p:nvSpPr>
          <p:cNvPr id="8" name="identity">
            <a:extLst xmlns:a="http://schemas.openxmlformats.org/drawingml/2006/main">
              <a:ext uri="{FF2B5EF4-FFF2-40B4-BE49-F238E27FC236}">
                <a16:creationId xmlns:a16="http://schemas.microsoft.com/office/drawing/2014/main" id="{1E87006D-8358-469F-A2F8-88910E52FB4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Rogue</a:t>
            </a:r>
          </a:p>
        </p:txBody>
      </p:sp>
      <p:sp>
        <p:nvSpPr>
          <p:cNvPr id="9" name="location">
            <a:extLst xmlns:a="http://schemas.openxmlformats.org/drawingml/2006/main">
              <a:ext uri="{FF2B5EF4-FFF2-40B4-BE49-F238E27FC236}">
                <a16:creationId xmlns:a16="http://schemas.microsoft.com/office/drawing/2014/main" id="{891440C7-CF5B-4FE3-9AEC-761409AAE56A}"/>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Displacer Beast’s Forest</a:t>
            </a:r>
          </a:p>
        </p:txBody>
      </p:sp>
      <p:sp>
        <p:nvSpPr>
          <p:cNvPr id="10" name="hook-label">
            <a:extLst xmlns:a="http://schemas.openxmlformats.org/drawingml/2006/main">
              <a:ext uri="{FF2B5EF4-FFF2-40B4-BE49-F238E27FC236}">
                <a16:creationId xmlns:a16="http://schemas.microsoft.com/office/drawing/2014/main" id="{B7777EEF-E9AD-4EA8-B045-69C56652D914}"/>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78F40BB2-B2D1-48D5-A1B9-AF29BD0B043F}"/>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Compare two accounts of one event. Explain why they may differ.</a:t>
            </a:r>
          </a:p>
        </p:txBody>
      </p:sp>
      <p:sp>
        <p:nvSpPr>
          <p:cNvPr id="12" name="voice-label">
            <a:extLst xmlns:a="http://schemas.openxmlformats.org/drawingml/2006/main">
              <a:ext uri="{FF2B5EF4-FFF2-40B4-BE49-F238E27FC236}">
                <a16:creationId xmlns:a16="http://schemas.microsoft.com/office/drawing/2014/main" id="{55545885-413E-4B0B-83E6-4C3EA909257C}"/>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2C51697F-F7FE-475D-9845-C06C7C319C76}"/>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35–50. Studio quality. Persona: perceptive archive detective. Emotion: composed, intrigued. A low alto with a smooth, lightly smoky texture and exact consonants. Dry humor, purposeful pauses, and soft emphasis on dates and sources. Build curiosity through timing while keeping every sentence clear and welcoming.</a:t>
            </a:r>
          </a:p>
        </p:txBody>
      </p:sp>
      <p:sp>
        <p:nvSpPr>
          <p:cNvPr id="14" name="pace">
            <a:extLst xmlns:a="http://schemas.openxmlformats.org/drawingml/2006/main">
              <a:ext uri="{FF2B5EF4-FFF2-40B4-BE49-F238E27FC236}">
                <a16:creationId xmlns:a16="http://schemas.microsoft.com/office/drawing/2014/main" id="{088E0FF1-BBC7-4A4B-B405-651345211F5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125–140 words/min  (acting target)</a:t>
            </a:r>
          </a:p>
        </p:txBody>
      </p:sp>
      <p:sp>
        <p:nvSpPr>
          <p:cNvPr id="15" name="movement-label">
            <a:extLst xmlns:a="http://schemas.openxmlformats.org/drawingml/2006/main">
              <a:ext uri="{FF2B5EF4-FFF2-40B4-BE49-F238E27FC236}">
                <a16:creationId xmlns:a16="http://schemas.microsoft.com/office/drawing/2014/main" id="{0350BBC2-2BA9-4D6C-8D0C-CE7985F73958}"/>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70A18B5B-F9AC-4983-BD08-0D5504700A3E}"/>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low, six-legged feline walk with even weight. Pause with all feet grounded.</a:t>
            </a:r>
          </a:p>
        </p:txBody>
      </p:sp>
      <p:sp>
        <p:nvSpPr>
          <p:cNvPr id="17" name="movement-1">
            <a:extLst xmlns:a="http://schemas.openxmlformats.org/drawingml/2006/main">
              <a:ext uri="{FF2B5EF4-FFF2-40B4-BE49-F238E27FC236}">
                <a16:creationId xmlns:a16="http://schemas.microsoft.com/office/drawing/2014/main" id="{DCC2CCFD-5FCD-4C59-9CB3-B9CC51CDEFDF}"/>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tentacle points to a source while the other rests. Turn the ears before the head.</a:t>
            </a:r>
          </a:p>
        </p:txBody>
      </p:sp>
      <p:sp>
        <p:nvSpPr>
          <p:cNvPr id="18" name="movement-2">
            <a:extLst xmlns:a="http://schemas.openxmlformats.org/drawingml/2006/main">
              <a:ext uri="{FF2B5EF4-FFF2-40B4-BE49-F238E27FC236}">
                <a16:creationId xmlns:a16="http://schemas.microsoft.com/office/drawing/2014/main" id="{47498BC0-2E50-4ACE-ABC0-6854D01384B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faint offset silhouette may appear only during travel, then disappear before instruction.</a:t>
            </a:r>
          </a:p>
        </p:txBody>
      </p:sp>
      <p:sp>
        <p:nvSpPr>
          <p:cNvPr id="19" name="dialogue-label">
            <a:extLst xmlns:a="http://schemas.openxmlformats.org/drawingml/2006/main">
              <a:ext uri="{FF2B5EF4-FFF2-40B4-BE49-F238E27FC236}">
                <a16:creationId xmlns:a16="http://schemas.microsoft.com/office/drawing/2014/main" id="{19CA6F82-9C34-4525-8F6F-F764E32E317D}"/>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03983326-C6F2-4A96-899A-4E0295612C37}"/>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63D09115-7F46-4B12-98A8-5E36486C998D}"/>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History leaves clues. Today we have a diary and a town record.</a:t>
            </a:r>
          </a:p>
        </p:txBody>
      </p:sp>
      <p:sp>
        <p:nvSpPr>
          <p:cNvPr id="22" name="line-role-1">
            <a:extLst xmlns:a="http://schemas.openxmlformats.org/drawingml/2006/main">
              <a:ext uri="{FF2B5EF4-FFF2-40B4-BE49-F238E27FC236}">
                <a16:creationId xmlns:a16="http://schemas.microsoft.com/office/drawing/2014/main" id="{E7BE03E7-6D43-451B-A8A7-A9C4BC598AC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25958161-634D-4B99-8C8C-815C0C8C5E2D}"/>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they disagree?</a:t>
            </a:r>
          </a:p>
        </p:txBody>
      </p:sp>
      <p:sp>
        <p:nvSpPr>
          <p:cNvPr id="24" name="line-role-2">
            <a:extLst xmlns:a="http://schemas.openxmlformats.org/drawingml/2006/main">
              <a:ext uri="{FF2B5EF4-FFF2-40B4-BE49-F238E27FC236}">
                <a16:creationId xmlns:a16="http://schemas.microsoft.com/office/drawing/2014/main" id="{E89B9BB1-9809-40BB-83A0-2EA90AE202DD}"/>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1864666-856B-4292-97F6-439A49931AB6}"/>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Excellent. We have a question worth investigating.</a:t>
            </a:r>
          </a:p>
        </p:txBody>
      </p:sp>
      <p:sp>
        <p:nvSpPr>
          <p:cNvPr id="26" name="line-role-3">
            <a:extLst xmlns:a="http://schemas.openxmlformats.org/drawingml/2006/main">
              <a:ext uri="{FF2B5EF4-FFF2-40B4-BE49-F238E27FC236}">
                <a16:creationId xmlns:a16="http://schemas.microsoft.com/office/drawing/2014/main" id="{D93AF07E-A228-44AB-8A8D-7A240A7C5F91}"/>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A16A6141-5141-4F64-9C6B-736A68A52377}"/>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Who made each source, and what could each person actually know?</a:t>
            </a:r>
          </a:p>
        </p:txBody>
      </p:sp>
      <p:sp>
        <p:nvSpPr>
          <p:cNvPr id="28" name="">
            <a:extLst xmlns:a="http://schemas.openxmlformats.org/drawingml/2006/main">
              <a:ext uri="{FF2B5EF4-FFF2-40B4-BE49-F238E27FC236}">
                <a16:creationId xmlns:a16="http://schemas.microsoft.com/office/drawing/2014/main" id="{E7012BB5-BF37-4538-BD1B-365897BF7C05}"/>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510B6241-24B4-4CE9-947E-95CA53295C62}"/>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177E3E3-D12E-422D-936F-8B26CFCA1178}"/>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07</a:t>
            </a:r>
          </a:p>
        </p:txBody>
      </p:sp>
    </p:spTree>
    <p:extLst>
      <p:ext uri="{BB962C8B-B14F-4D97-AF65-F5344CB8AC3E}">
        <p14:creationId xmlns:p14="http://schemas.microsoft.com/office/powerpoint/2010/main" val="1767012108"/>
      </p:ext>
    </p:extLst>
  </p:cSld>
</p:sld>
</file>

<file path=ppt/slides/slide8.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68263BC6-581A-4412-8AEC-A9594E84CD9C}"/>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05</a:t>
            </a:r>
          </a:p>
        </p:txBody>
      </p:sp>
      <p:sp>
        <p:nvSpPr>
          <p:cNvPr id="3" name="title">
            <a:extLst xmlns:a="http://schemas.openxmlformats.org/drawingml/2006/main">
              <a:ext uri="{FF2B5EF4-FFF2-40B4-BE49-F238E27FC236}">
                <a16:creationId xmlns:a16="http://schemas.microsoft.com/office/drawing/2014/main" id="{7B3F7817-8B75-4F76-9669-C048778EB7A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GEOGRAPHY</a:t>
            </a:r>
          </a:p>
        </p:txBody>
      </p:sp>
      <p:sp>
        <p:nvSpPr>
          <p:cNvPr id="4" name="subtitle">
            <a:extLst xmlns:a="http://schemas.openxmlformats.org/drawingml/2006/main">
              <a:ext uri="{FF2B5EF4-FFF2-40B4-BE49-F238E27FC236}">
                <a16:creationId xmlns:a16="http://schemas.microsoft.com/office/drawing/2014/main" id="{C14D49F3-F720-45BF-B596-FAA16285702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Two viewpoints, one expedition</a:t>
            </a:r>
          </a:p>
        </p:txBody>
      </p:sp>
      <p:sp>
        <p:nvSpPr>
          <p:cNvPr id="5" name="">
            <a:extLst xmlns:a="http://schemas.openxmlformats.org/drawingml/2006/main">
              <a:ext uri="{FF2B5EF4-FFF2-40B4-BE49-F238E27FC236}">
                <a16:creationId xmlns:a16="http://schemas.microsoft.com/office/drawing/2014/main" id="{AE092B8A-2CB7-4861-A082-872B297CD843}"/>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46E5EF30-3089-427C-86E0-B76E0FE2A092}"/>
              </a:ext>
            </a:extLst>
          </p:cNvPr>
          <p:cNvPicPr>
            <a:picLocks xmlns:a="http://schemas.openxmlformats.org/drawingml/2006/main" noChangeAspect="1"/>
          </p:cNvPicPr>
          <p:nvPr/>
        </p:nvPicPr>
        <p:blipFill>
          <a:blip xmlns:r="http://schemas.openxmlformats.org/officeDocument/2006/relationships" xmlns:a="http://schemas.openxmlformats.org/drawingml/2006/main" r:embed="R1e5a5a5692804c87"/>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B52639D2-A137-4FD3-98D5-D33780CE32B2}"/>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ETTIN</a:t>
            </a:r>
          </a:p>
        </p:txBody>
      </p:sp>
      <p:sp>
        <p:nvSpPr>
          <p:cNvPr id="8" name="identity">
            <a:extLst xmlns:a="http://schemas.openxmlformats.org/drawingml/2006/main">
              <a:ext uri="{FF2B5EF4-FFF2-40B4-BE49-F238E27FC236}">
                <a16:creationId xmlns:a16="http://schemas.microsoft.com/office/drawing/2014/main" id="{074346F6-B914-4DE6-ADD6-C75ADDF00D39}"/>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Fighter</a:t>
            </a:r>
          </a:p>
        </p:txBody>
      </p:sp>
      <p:sp>
        <p:nvSpPr>
          <p:cNvPr id="9" name="location">
            <a:extLst xmlns:a="http://schemas.openxmlformats.org/drawingml/2006/main">
              <a:ext uri="{FF2B5EF4-FFF2-40B4-BE49-F238E27FC236}">
                <a16:creationId xmlns:a16="http://schemas.microsoft.com/office/drawing/2014/main" id="{6F9EEB1A-1017-437B-AC6B-E12CA522A437}"/>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Ettin’s Mountain</a:t>
            </a:r>
          </a:p>
        </p:txBody>
      </p:sp>
      <p:sp>
        <p:nvSpPr>
          <p:cNvPr id="10" name="hook-label">
            <a:extLst xmlns:a="http://schemas.openxmlformats.org/drawingml/2006/main">
              <a:ext uri="{FF2B5EF4-FFF2-40B4-BE49-F238E27FC236}">
                <a16:creationId xmlns:a16="http://schemas.microsoft.com/office/drawing/2014/main" id="{8F5316E9-5875-4C2E-9274-A2EA7DE49A31}"/>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577FAFF9-DD29-4AA2-8C22-90BAAA1E4FBF}"/>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Choose a map route. Support the choice with distance or slope.</a:t>
            </a:r>
          </a:p>
        </p:txBody>
      </p:sp>
      <p:sp>
        <p:nvSpPr>
          <p:cNvPr id="12" name="voice-label">
            <a:extLst xmlns:a="http://schemas.openxmlformats.org/drawingml/2006/main">
              <a:ext uri="{FF2B5EF4-FFF2-40B4-BE49-F238E27FC236}">
                <a16:creationId xmlns:a16="http://schemas.microsoft.com/office/drawing/2014/main" id="{3B74B013-AA11-4783-A17A-514936634DC8}"/>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6BA2042E-BCB4-4E48-B744-1329B3538BF9}"/>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HEAD A: Native English, General American. Male, 40–50. Studio quality. Warm, practical map guide. Low baritone, rounded vowels and measured phrasing.</a:t>
            </a:r>
          </a:p>
          <a:p xmlns:a="http://schemas.openxmlformats.org/drawingml/2006/main">
            <a:pPr>
              <a:buNone/>
              <a:defRPr sz="2100" b="0">
                <a:solidFill>
                  <a:srgbClr val="F8EAD0"/>
                </a:solidFill>
                <a:latin typeface="Barlow Condensed"/>
                <a:ea typeface="Barlow Condensed"/>
                <a:cs typeface="Barlow Condensed"/>
              </a:defRPr>
            </a:pPr>
            <a:r>
              <a:t/>
            </a:r>
          </a:p>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HEAD B: Native English, General American. Male, 25–35. Studio quality. Curious, friendly field partner. Bright light tenor, crisp consonants and quicker questions.</a:t>
            </a:r>
          </a:p>
        </p:txBody>
      </p:sp>
      <p:sp>
        <p:nvSpPr>
          <p:cNvPr id="14" name="pace">
            <a:extLst xmlns:a="http://schemas.openxmlformats.org/drawingml/2006/main">
              <a:ext uri="{FF2B5EF4-FFF2-40B4-BE49-F238E27FC236}">
                <a16:creationId xmlns:a16="http://schemas.microsoft.com/office/drawing/2014/main" id="{994B4E59-A12E-4CF7-A36F-FC46C45F7D8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125–140 words/min  (acting target)</a:t>
            </a:r>
          </a:p>
        </p:txBody>
      </p:sp>
      <p:sp>
        <p:nvSpPr>
          <p:cNvPr id="15" name="movement-label">
            <a:extLst xmlns:a="http://schemas.openxmlformats.org/drawingml/2006/main">
              <a:ext uri="{FF2B5EF4-FFF2-40B4-BE49-F238E27FC236}">
                <a16:creationId xmlns:a16="http://schemas.microsoft.com/office/drawing/2014/main" id="{21FC96CF-8DCF-4DF4-9CCB-AC6E7F2091B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D1555F6-2A24-4EC8-BF1A-BAAC6F619B53}"/>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shared, weighty walk. The torso turns first and both heads settle with a small delay.</a:t>
            </a:r>
          </a:p>
        </p:txBody>
      </p:sp>
      <p:sp>
        <p:nvSpPr>
          <p:cNvPr id="17" name="movement-1">
            <a:extLst xmlns:a="http://schemas.openxmlformats.org/drawingml/2006/main">
              <a:ext uri="{FF2B5EF4-FFF2-40B4-BE49-F238E27FC236}">
                <a16:creationId xmlns:a16="http://schemas.microsoft.com/office/drawing/2014/main" id="{C2EAAB35-82FA-4B5B-A9A2-0925C2EA1B53}"/>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The speaking head looks toward the student. The listening head nods and waits its turn.</a:t>
            </a:r>
          </a:p>
        </p:txBody>
      </p:sp>
      <p:sp>
        <p:nvSpPr>
          <p:cNvPr id="18" name="movement-2">
            <a:extLst xmlns:a="http://schemas.openxmlformats.org/drawingml/2006/main">
              <a:ext uri="{FF2B5EF4-FFF2-40B4-BE49-F238E27FC236}">
                <a16:creationId xmlns:a16="http://schemas.microsoft.com/office/drawing/2014/main" id="{9F7F4CE0-D987-4AAA-8802-4FB74B737268}"/>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hand supports the globe while the other traces a route. Avoid tug-of-war gestures.</a:t>
            </a:r>
          </a:p>
        </p:txBody>
      </p:sp>
      <p:sp>
        <p:nvSpPr>
          <p:cNvPr id="19" name="dialogue-label">
            <a:extLst xmlns:a="http://schemas.openxmlformats.org/drawingml/2006/main">
              <a:ext uri="{FF2B5EF4-FFF2-40B4-BE49-F238E27FC236}">
                <a16:creationId xmlns:a16="http://schemas.microsoft.com/office/drawing/2014/main" id="{69DD077B-CCD3-4B26-AC4E-3BAD0BD0C468}"/>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2F8ABA3B-A41A-469C-A4C9-4CA367644ED6}"/>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A · WELCOME</a:t>
            </a:r>
          </a:p>
        </p:txBody>
      </p:sp>
      <p:sp>
        <p:nvSpPr>
          <p:cNvPr id="21" name="line-0">
            <a:extLst xmlns:a="http://schemas.openxmlformats.org/drawingml/2006/main">
              <a:ext uri="{FF2B5EF4-FFF2-40B4-BE49-F238E27FC236}">
                <a16:creationId xmlns:a16="http://schemas.microsoft.com/office/drawing/2014/main" id="{64FE16B1-ADFC-4E98-9005-79DB484E0157}"/>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explorers. The map shows two paths to the tower.</a:t>
            </a:r>
          </a:p>
        </p:txBody>
      </p:sp>
      <p:sp>
        <p:nvSpPr>
          <p:cNvPr id="22" name="line-role-1">
            <a:extLst xmlns:a="http://schemas.openxmlformats.org/drawingml/2006/main">
              <a:ext uri="{FF2B5EF4-FFF2-40B4-BE49-F238E27FC236}">
                <a16:creationId xmlns:a16="http://schemas.microsoft.com/office/drawing/2014/main" id="{B1E7BF24-715B-4A03-B0F5-8EEA6CB1526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B · QUESTION</a:t>
            </a:r>
          </a:p>
        </p:txBody>
      </p:sp>
      <p:sp>
        <p:nvSpPr>
          <p:cNvPr id="23" name="line-1">
            <a:extLst xmlns:a="http://schemas.openxmlformats.org/drawingml/2006/main">
              <a:ext uri="{FF2B5EF4-FFF2-40B4-BE49-F238E27FC236}">
                <a16:creationId xmlns:a16="http://schemas.microsoft.com/office/drawing/2014/main" id="{615ABF5B-C4A1-4E8B-B9D4-BB99822EB426}"/>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One is shorter. Does that make it the easier route?</a:t>
            </a:r>
          </a:p>
        </p:txBody>
      </p:sp>
      <p:sp>
        <p:nvSpPr>
          <p:cNvPr id="24" name="line-role-2">
            <a:extLst xmlns:a="http://schemas.openxmlformats.org/drawingml/2006/main">
              <a:ext uri="{FF2B5EF4-FFF2-40B4-BE49-F238E27FC236}">
                <a16:creationId xmlns:a16="http://schemas.microsoft.com/office/drawing/2014/main" id="{C9D5E496-B5EF-4A73-B386-963C64F89DD1}"/>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5" name="line-2">
            <a:extLst xmlns:a="http://schemas.openxmlformats.org/drawingml/2006/main">
              <a:ext uri="{FF2B5EF4-FFF2-40B4-BE49-F238E27FC236}">
                <a16:creationId xmlns:a16="http://schemas.microsoft.com/office/drawing/2014/main" id="{8447DDD0-0D17-4FE5-AC14-63C6F7A213AC}"/>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Maybe the short one is steeper.</a:t>
            </a:r>
          </a:p>
        </p:txBody>
      </p:sp>
      <p:sp>
        <p:nvSpPr>
          <p:cNvPr id="26" name="line-role-3">
            <a:extLst xmlns:a="http://schemas.openxmlformats.org/drawingml/2006/main">
              <a:ext uri="{FF2B5EF4-FFF2-40B4-BE49-F238E27FC236}">
                <a16:creationId xmlns:a16="http://schemas.microsoft.com/office/drawing/2014/main" id="{7D4F62AC-D0F1-44C3-B02A-D2230CC94330}"/>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A · FOLLOW-UP</a:t>
            </a:r>
          </a:p>
        </p:txBody>
      </p:sp>
      <p:sp>
        <p:nvSpPr>
          <p:cNvPr id="27" name="line-3">
            <a:extLst xmlns:a="http://schemas.openxmlformats.org/drawingml/2006/main">
              <a:ext uri="{FF2B5EF4-FFF2-40B4-BE49-F238E27FC236}">
                <a16:creationId xmlns:a16="http://schemas.microsoft.com/office/drawing/2014/main" id="{7D78D01C-188B-4982-872F-AE2D17414F4F}"/>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Good observation. Show us the contour lines that support your idea.</a:t>
            </a:r>
          </a:p>
        </p:txBody>
      </p:sp>
      <p:sp>
        <p:nvSpPr>
          <p:cNvPr id="28" name="">
            <a:extLst xmlns:a="http://schemas.openxmlformats.org/drawingml/2006/main">
              <a:ext uri="{FF2B5EF4-FFF2-40B4-BE49-F238E27FC236}">
                <a16:creationId xmlns:a16="http://schemas.microsoft.com/office/drawing/2014/main" id="{4958A2FE-BA27-4669-92F5-2633745130CD}"/>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91AE1E07-5331-42AB-B66A-F22267C30A2B}"/>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C2AC70A4-FC97-4FC4-B667-608C8295B7FA}"/>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08</a:t>
            </a:r>
          </a:p>
        </p:txBody>
      </p:sp>
    </p:spTree>
    <p:extLst>
      <p:ext uri="{BB962C8B-B14F-4D97-AF65-F5344CB8AC3E}">
        <p14:creationId xmlns:p14="http://schemas.microsoft.com/office/powerpoint/2010/main" val="1073383672"/>
      </p:ext>
    </p:extLst>
  </p:cSld>
</p:sld>
</file>

<file path=ppt/slides/slide9.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0B613C8F-08D0-439E-9F3A-1FCA56F8347E}"/>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06</a:t>
            </a:r>
          </a:p>
        </p:txBody>
      </p:sp>
      <p:sp>
        <p:nvSpPr>
          <p:cNvPr id="3" name="title">
            <a:extLst xmlns:a="http://schemas.openxmlformats.org/drawingml/2006/main">
              <a:ext uri="{FF2B5EF4-FFF2-40B4-BE49-F238E27FC236}">
                <a16:creationId xmlns:a16="http://schemas.microsoft.com/office/drawing/2014/main" id="{9BF4A59C-D39B-45FC-A609-AEB4E86C8E6B}"/>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LANGUAGE ARTS</a:t>
            </a:r>
          </a:p>
        </p:txBody>
      </p:sp>
      <p:sp>
        <p:nvSpPr>
          <p:cNvPr id="4" name="subtitle">
            <a:extLst xmlns:a="http://schemas.openxmlformats.org/drawingml/2006/main">
              <a:ext uri="{FF2B5EF4-FFF2-40B4-BE49-F238E27FC236}">
                <a16:creationId xmlns:a16="http://schemas.microsoft.com/office/drawing/2014/main" id="{CED1B596-578D-42CB-B964-6716B9A74AB9}"/>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generous storyteller</a:t>
            </a:r>
          </a:p>
        </p:txBody>
      </p:sp>
      <p:sp>
        <p:nvSpPr>
          <p:cNvPr id="5" name="">
            <a:extLst xmlns:a="http://schemas.openxmlformats.org/drawingml/2006/main">
              <a:ext uri="{FF2B5EF4-FFF2-40B4-BE49-F238E27FC236}">
                <a16:creationId xmlns:a16="http://schemas.microsoft.com/office/drawing/2014/main" id="{DE976F78-A1DF-456B-8A3C-8D26886FA3D2}"/>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C0B6F688-652B-4581-AC37-EA78C2D7D471}"/>
              </a:ext>
            </a:extLst>
          </p:cNvPr>
          <p:cNvPicPr>
            <a:picLocks xmlns:a="http://schemas.openxmlformats.org/drawingml/2006/main" noChangeAspect="1"/>
          </p:cNvPicPr>
          <p:nvPr/>
        </p:nvPicPr>
        <p:blipFill>
          <a:blip xmlns:r="http://schemas.openxmlformats.org/officeDocument/2006/relationships" xmlns:a="http://schemas.openxmlformats.org/drawingml/2006/main" r:embed="Rce76b8773b964811"/>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0C3CF637-88DB-4A7B-8020-B767510EF809}"/>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BRASS DRAGON</a:t>
            </a:r>
          </a:p>
        </p:txBody>
      </p:sp>
      <p:sp>
        <p:nvSpPr>
          <p:cNvPr id="8" name="identity">
            <a:extLst xmlns:a="http://schemas.openxmlformats.org/drawingml/2006/main">
              <a:ext uri="{FF2B5EF4-FFF2-40B4-BE49-F238E27FC236}">
                <a16:creationId xmlns:a16="http://schemas.microsoft.com/office/drawing/2014/main" id="{3E5F42EF-47A3-4594-AE57-E3219DDC20B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Bard</a:t>
            </a:r>
          </a:p>
        </p:txBody>
      </p:sp>
      <p:sp>
        <p:nvSpPr>
          <p:cNvPr id="9" name="location">
            <a:extLst xmlns:a="http://schemas.openxmlformats.org/drawingml/2006/main">
              <a:ext uri="{FF2B5EF4-FFF2-40B4-BE49-F238E27FC236}">
                <a16:creationId xmlns:a16="http://schemas.microsoft.com/office/drawing/2014/main" id="{94DF3298-C028-4C35-BD13-76EB8B2FB44D}"/>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Brass Dragon’s Lair</a:t>
            </a:r>
          </a:p>
        </p:txBody>
      </p:sp>
      <p:sp>
        <p:nvSpPr>
          <p:cNvPr id="10" name="hook-label">
            <a:extLst xmlns:a="http://schemas.openxmlformats.org/drawingml/2006/main">
              <a:ext uri="{FF2B5EF4-FFF2-40B4-BE49-F238E27FC236}">
                <a16:creationId xmlns:a16="http://schemas.microsoft.com/office/drawing/2014/main" id="{0D26F391-961D-4B71-A5FF-82B189C13BEE}"/>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1ED96E3-757A-48A4-AE1B-261768C6C0E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Tell a two-sentence arrival story. Name the intended audience and feeling.</a:t>
            </a:r>
          </a:p>
        </p:txBody>
      </p:sp>
      <p:sp>
        <p:nvSpPr>
          <p:cNvPr id="12" name="voice-label">
            <a:extLst xmlns:a="http://schemas.openxmlformats.org/drawingml/2006/main">
              <a:ext uri="{FF2B5EF4-FFF2-40B4-BE49-F238E27FC236}">
                <a16:creationId xmlns:a16="http://schemas.microsoft.com/office/drawing/2014/main" id="{CF5F9ED9-1FCB-4B84-9E59-853998A73B2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778C41B2-25A2-479C-A517-C93B58B98E51}"/>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brass dragon, mature adult. Studio quality. Resonant low alto with bright brassy overtones and a light dry grain. Spacious vowels and rising story phrases suggest her towering scale. A generous, sociable storyteller. Use theatrical warmth, then soften when listening. Keep instructions concise and fully articulated, with room for students to respond.</a:t>
            </a:r>
          </a:p>
        </p:txBody>
      </p:sp>
      <p:sp>
        <p:nvSpPr>
          <p:cNvPr id="14" name="pace">
            <a:extLst xmlns:a="http://schemas.openxmlformats.org/drawingml/2006/main">
              <a:ext uri="{FF2B5EF4-FFF2-40B4-BE49-F238E27FC236}">
                <a16:creationId xmlns:a16="http://schemas.microsoft.com/office/drawing/2014/main" id="{00AC799B-BDD6-46A0-96ED-62264C226159}"/>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125–140 words/min  (acting target)</a:t>
            </a:r>
          </a:p>
        </p:txBody>
      </p:sp>
      <p:sp>
        <p:nvSpPr>
          <p:cNvPr id="15" name="movement-label">
            <a:extLst xmlns:a="http://schemas.openxmlformats.org/drawingml/2006/main">
              <a:ext uri="{FF2B5EF4-FFF2-40B4-BE49-F238E27FC236}">
                <a16:creationId xmlns:a16="http://schemas.microsoft.com/office/drawing/2014/main" id="{2665D1D2-CA97-4DD3-9752-DEE461D829EF}"/>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10368C1F-0EB5-40E1-98F7-259D3153A872}"/>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deliberate claw placement. Keep the tail behind the body and wings folded.</a:t>
            </a:r>
          </a:p>
        </p:txBody>
      </p:sp>
      <p:sp>
        <p:nvSpPr>
          <p:cNvPr id="17" name="movement-1">
            <a:extLst xmlns:a="http://schemas.openxmlformats.org/drawingml/2006/main">
              <a:ext uri="{FF2B5EF4-FFF2-40B4-BE49-F238E27FC236}">
                <a16:creationId xmlns:a16="http://schemas.microsoft.com/office/drawing/2014/main" id="{CCAD6464-D449-4931-B79B-5D901FD661D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Open one wing slightly to reveal a story prop. Use a relaxed chin tilt when listening.</a:t>
            </a:r>
          </a:p>
        </p:txBody>
      </p:sp>
      <p:sp>
        <p:nvSpPr>
          <p:cNvPr id="18" name="movement-2">
            <a:extLst xmlns:a="http://schemas.openxmlformats.org/drawingml/2006/main">
              <a:ext uri="{FF2B5EF4-FFF2-40B4-BE49-F238E27FC236}">
                <a16:creationId xmlns:a16="http://schemas.microsoft.com/office/drawing/2014/main" id="{8AFC572D-C40F-4D0C-9C32-070B7AC7DAE0}"/>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Settle the jaw between phrases. Keep breath and wing movement quiet near a learner.</a:t>
            </a:r>
          </a:p>
        </p:txBody>
      </p:sp>
      <p:sp>
        <p:nvSpPr>
          <p:cNvPr id="19" name="dialogue-label">
            <a:extLst xmlns:a="http://schemas.openxmlformats.org/drawingml/2006/main">
              <a:ext uri="{FF2B5EF4-FFF2-40B4-BE49-F238E27FC236}">
                <a16:creationId xmlns:a16="http://schemas.microsoft.com/office/drawing/2014/main" id="{3AAAFE24-FC5A-470E-80FB-779062A21F98}"/>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923AB465-C406-43DF-AEA3-4B712809C56C}"/>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04FC943A-2451-4AFD-A465-F8FD1E44CA79}"/>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Every story has a listener. Today, choose one person you want to reach.</a:t>
            </a:r>
          </a:p>
        </p:txBody>
      </p:sp>
      <p:sp>
        <p:nvSpPr>
          <p:cNvPr id="22" name="line-role-1">
            <a:extLst xmlns:a="http://schemas.openxmlformats.org/drawingml/2006/main">
              <a:ext uri="{FF2B5EF4-FFF2-40B4-BE49-F238E27FC236}">
                <a16:creationId xmlns:a16="http://schemas.microsoft.com/office/drawing/2014/main" id="{0E415DC0-FE54-4292-B187-8E398897C5BD}"/>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36A9B11B-2435-4817-97E4-3BDF5E37D6B3}"/>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Can I tell a story instead of writing it?</a:t>
            </a:r>
          </a:p>
        </p:txBody>
      </p:sp>
      <p:sp>
        <p:nvSpPr>
          <p:cNvPr id="24" name="line-role-2">
            <a:extLst xmlns:a="http://schemas.openxmlformats.org/drawingml/2006/main">
              <a:ext uri="{FF2B5EF4-FFF2-40B4-BE49-F238E27FC236}">
                <a16:creationId xmlns:a16="http://schemas.microsoft.com/office/drawing/2014/main" id="{D46C8E52-FA9B-428A-A9A9-A359E19CF58B}"/>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D6AD9026-A364-40CE-B646-5E4B14F051D1}"/>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Certainly. Speak it, type it, or build it with pictures.</a:t>
            </a:r>
          </a:p>
        </p:txBody>
      </p:sp>
      <p:sp>
        <p:nvSpPr>
          <p:cNvPr id="26" name="line-role-3">
            <a:extLst xmlns:a="http://schemas.openxmlformats.org/drawingml/2006/main">
              <a:ext uri="{FF2B5EF4-FFF2-40B4-BE49-F238E27FC236}">
                <a16:creationId xmlns:a16="http://schemas.microsoft.com/office/drawing/2014/main" id="{DF96E821-02DF-4BFF-B7EF-BF4156B5150A}"/>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4351CE2A-0912-4C3F-82D4-EA9BE3E0CEC5}"/>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Tell us about a surprising arrival at school. What should your listener feel?</a:t>
            </a:r>
          </a:p>
        </p:txBody>
      </p:sp>
      <p:sp>
        <p:nvSpPr>
          <p:cNvPr id="28" name="">
            <a:extLst xmlns:a="http://schemas.openxmlformats.org/drawingml/2006/main">
              <a:ext uri="{FF2B5EF4-FFF2-40B4-BE49-F238E27FC236}">
                <a16:creationId xmlns:a16="http://schemas.microsoft.com/office/drawing/2014/main" id="{D956DBDD-0C83-488A-9DE1-BB4BB010EAC7}"/>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BB994542-FEAD-44C5-A9B5-55AA45C47CE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4119ECDE-4152-4076-9089-498C1AEACEE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09</a:t>
            </a:r>
          </a:p>
        </p:txBody>
      </p:sp>
    </p:spTree>
    <p:extLst>
      <p:ext uri="{BB962C8B-B14F-4D97-AF65-F5344CB8AC3E}">
        <p14:creationId xmlns:p14="http://schemas.microsoft.com/office/powerpoint/2010/main" val="764256757"/>
      </p:ext>
    </p:extLst>
  </p:cSld>
</p:sld>
</file>

<file path=ppt/slides/slide10.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1D8978F-8E03-4AD0-B902-95345BE3EB01}"/>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07</a:t>
            </a:r>
          </a:p>
        </p:txBody>
      </p:sp>
      <p:sp>
        <p:nvSpPr>
          <p:cNvPr id="3" name="title">
            <a:extLst xmlns:a="http://schemas.openxmlformats.org/drawingml/2006/main">
              <a:ext uri="{FF2B5EF4-FFF2-40B4-BE49-F238E27FC236}">
                <a16:creationId xmlns:a16="http://schemas.microsoft.com/office/drawing/2014/main" id="{591E7BC8-2A25-465B-89E0-10EFA2E5603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HEALTH</a:t>
            </a:r>
          </a:p>
        </p:txBody>
      </p:sp>
      <p:sp>
        <p:nvSpPr>
          <p:cNvPr id="4" name="subtitle">
            <a:extLst xmlns:a="http://schemas.openxmlformats.org/drawingml/2006/main">
              <a:ext uri="{FF2B5EF4-FFF2-40B4-BE49-F238E27FC236}">
                <a16:creationId xmlns:a16="http://schemas.microsoft.com/office/drawing/2014/main" id="{4D925E85-E346-403D-9A59-3EE7AD40BFB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calm wellbeing guide</a:t>
            </a:r>
          </a:p>
        </p:txBody>
      </p:sp>
      <p:sp>
        <p:nvSpPr>
          <p:cNvPr id="5" name="">
            <a:extLst xmlns:a="http://schemas.openxmlformats.org/drawingml/2006/main">
              <a:ext uri="{FF2B5EF4-FFF2-40B4-BE49-F238E27FC236}">
                <a16:creationId xmlns:a16="http://schemas.microsoft.com/office/drawing/2014/main" id="{EDD59BCF-5B6B-431E-94C0-12183FB86004}"/>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DC508435-E90A-4362-AEFC-B70690708081}"/>
              </a:ext>
            </a:extLst>
          </p:cNvPr>
          <p:cNvPicPr>
            <a:picLocks xmlns:a="http://schemas.openxmlformats.org/drawingml/2006/main" noChangeAspect="1"/>
          </p:cNvPicPr>
          <p:nvPr/>
        </p:nvPicPr>
        <p:blipFill>
          <a:blip xmlns:r="http://schemas.openxmlformats.org/officeDocument/2006/relationships" xmlns:a="http://schemas.openxmlformats.org/drawingml/2006/main" r:embed="R2b55c0e6bcd74e9b"/>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6197CB1F-3A22-4A50-BC88-A27587AAB5CC}"/>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GIANT SPIDER</a:t>
            </a:r>
          </a:p>
        </p:txBody>
      </p:sp>
      <p:sp>
        <p:nvSpPr>
          <p:cNvPr id="8" name="identity">
            <a:extLst xmlns:a="http://schemas.openxmlformats.org/drawingml/2006/main">
              <a:ext uri="{FF2B5EF4-FFF2-40B4-BE49-F238E27FC236}">
                <a16:creationId xmlns:a16="http://schemas.microsoft.com/office/drawing/2014/main" id="{5F6DFC86-D99A-4371-82B6-9E6579F69492}"/>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Ranger</a:t>
            </a:r>
          </a:p>
        </p:txBody>
      </p:sp>
      <p:sp>
        <p:nvSpPr>
          <p:cNvPr id="9" name="location">
            <a:extLst xmlns:a="http://schemas.openxmlformats.org/drawingml/2006/main">
              <a:ext uri="{FF2B5EF4-FFF2-40B4-BE49-F238E27FC236}">
                <a16:creationId xmlns:a16="http://schemas.microsoft.com/office/drawing/2014/main" id="{9FD480B8-F4C9-4FD4-9EF2-6ABAA175576C}"/>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Giant Spider’s Web</a:t>
            </a:r>
          </a:p>
        </p:txBody>
      </p:sp>
      <p:sp>
        <p:nvSpPr>
          <p:cNvPr id="10" name="hook-label">
            <a:extLst xmlns:a="http://schemas.openxmlformats.org/drawingml/2006/main">
              <a:ext uri="{FF2B5EF4-FFF2-40B4-BE49-F238E27FC236}">
                <a16:creationId xmlns:a16="http://schemas.microsoft.com/office/drawing/2014/main" id="{80E2E1B6-F06C-44FA-BCA3-A0A28E646ADB}"/>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E03F419-E64D-4CF6-B808-D38FDE6D8E3E}"/>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Practice Pause and Help. Identify a way to request a break.</a:t>
            </a:r>
          </a:p>
        </p:txBody>
      </p:sp>
      <p:sp>
        <p:nvSpPr>
          <p:cNvPr id="12" name="voice-label">
            <a:extLst xmlns:a="http://schemas.openxmlformats.org/drawingml/2006/main">
              <a:ext uri="{FF2B5EF4-FFF2-40B4-BE49-F238E27FC236}">
                <a16:creationId xmlns:a16="http://schemas.microsoft.com/office/drawing/2014/main" id="{5555A156-CE9E-4B9E-BDF5-1D4AF5911839}"/>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A8C2CED6-4765-4FA7-970A-DBFA0864C30D}"/>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40–55. Studio quality. Persona: calm school wellbeing guide. Emotion: attentive, reassuring. A warm lower mezzo with a soft, clear texture. Even volume, short sentences, and generous pauses. Questions sound optional and respectful. Keep concern gentle and composed, with precise articulation of practical instructions.</a:t>
            </a:r>
          </a:p>
        </p:txBody>
      </p:sp>
      <p:sp>
        <p:nvSpPr>
          <p:cNvPr id="14" name="pace">
            <a:extLst xmlns:a="http://schemas.openxmlformats.org/drawingml/2006/main">
              <a:ext uri="{FF2B5EF4-FFF2-40B4-BE49-F238E27FC236}">
                <a16:creationId xmlns:a16="http://schemas.microsoft.com/office/drawing/2014/main" id="{2D40EEEE-1FCD-48E6-BA8D-6CD332C46CB2}"/>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110–125 words/min  (acting target)</a:t>
            </a:r>
          </a:p>
        </p:txBody>
      </p:sp>
      <p:sp>
        <p:nvSpPr>
          <p:cNvPr id="15" name="movement-label">
            <a:extLst xmlns:a="http://schemas.openxmlformats.org/drawingml/2006/main">
              <a:ext uri="{FF2B5EF4-FFF2-40B4-BE49-F238E27FC236}">
                <a16:creationId xmlns:a16="http://schemas.microsoft.com/office/drawing/2014/main" id="{ABBA611B-00E9-4834-974C-90C91C0CEC8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577747B4-89A6-4046-9871-B31F47E2DD37}"/>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smooth alternating leg pattern. Keep the body level and approach from the front.</a:t>
            </a:r>
          </a:p>
        </p:txBody>
      </p:sp>
      <p:sp>
        <p:nvSpPr>
          <p:cNvPr id="17" name="movement-1">
            <a:extLst xmlns:a="http://schemas.openxmlformats.org/drawingml/2006/main">
              <a:ext uri="{FF2B5EF4-FFF2-40B4-BE49-F238E27FC236}">
                <a16:creationId xmlns:a16="http://schemas.microsoft.com/office/drawing/2014/main" id="{DD8EBD51-3F9C-4214-B1AC-A7856B1BF04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Stop outside the student’s personal space. Lift one foreleg slowly to indicate a rest spot.</a:t>
            </a:r>
          </a:p>
        </p:txBody>
      </p:sp>
      <p:sp>
        <p:nvSpPr>
          <p:cNvPr id="18" name="movement-2">
            <a:extLst xmlns:a="http://schemas.openxmlformats.org/drawingml/2006/main">
              <a:ext uri="{FF2B5EF4-FFF2-40B4-BE49-F238E27FC236}">
                <a16:creationId xmlns:a16="http://schemas.microsoft.com/office/drawing/2014/main" id="{CB55247A-F90B-4D38-A92C-33AF3363BB56}"/>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Keep the web as scenery. Never drop from above, wrap a learner, or touch their avatar.</a:t>
            </a:r>
          </a:p>
        </p:txBody>
      </p:sp>
      <p:sp>
        <p:nvSpPr>
          <p:cNvPr id="19" name="dialogue-label">
            <a:extLst xmlns:a="http://schemas.openxmlformats.org/drawingml/2006/main">
              <a:ext uri="{FF2B5EF4-FFF2-40B4-BE49-F238E27FC236}">
                <a16:creationId xmlns:a16="http://schemas.microsoft.com/office/drawing/2014/main" id="{92335AC7-210D-46CA-9AB5-F759C1B2442F}"/>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D70EF9F2-5217-470B-82C3-1DF1E7D2DAF4}"/>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CHECK-IN</a:t>
            </a:r>
          </a:p>
        </p:txBody>
      </p:sp>
      <p:sp>
        <p:nvSpPr>
          <p:cNvPr id="21" name="line-0">
            <a:extLst xmlns:a="http://schemas.openxmlformats.org/drawingml/2006/main">
              <a:ext uri="{FF2B5EF4-FFF2-40B4-BE49-F238E27FC236}">
                <a16:creationId xmlns:a16="http://schemas.microsoft.com/office/drawing/2014/main" id="{FB764825-0A08-48E1-AAA9-DA5E1C30AD89}"/>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can tell me how you feel, or you can pass.</a:t>
            </a:r>
          </a:p>
        </p:txBody>
      </p:sp>
      <p:sp>
        <p:nvSpPr>
          <p:cNvPr id="22" name="line-role-1">
            <a:extLst xmlns:a="http://schemas.openxmlformats.org/drawingml/2006/main">
              <a:ext uri="{FF2B5EF4-FFF2-40B4-BE49-F238E27FC236}">
                <a16:creationId xmlns:a16="http://schemas.microsoft.com/office/drawing/2014/main" id="{CE19D0B0-DC2F-48D6-84CF-23B6583D34ED}"/>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D29A52D-2377-465E-B1F9-05D6B577E7CB}"/>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The headset is making me uncomfortable.</a:t>
            </a:r>
          </a:p>
        </p:txBody>
      </p:sp>
      <p:sp>
        <p:nvSpPr>
          <p:cNvPr id="24" name="line-role-2">
            <a:extLst xmlns:a="http://schemas.openxmlformats.org/drawingml/2006/main">
              <a:ext uri="{FF2B5EF4-FFF2-40B4-BE49-F238E27FC236}">
                <a16:creationId xmlns:a16="http://schemas.microsoft.com/office/drawing/2014/main" id="{97010BE0-01C0-41DC-8895-AB20DCED56E0}"/>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SUPPORT</a:t>
            </a:r>
          </a:p>
        </p:txBody>
      </p:sp>
      <p:sp>
        <p:nvSpPr>
          <p:cNvPr id="25" name="line-2">
            <a:extLst xmlns:a="http://schemas.openxmlformats.org/drawingml/2006/main">
              <a:ext uri="{FF2B5EF4-FFF2-40B4-BE49-F238E27FC236}">
                <a16:creationId xmlns:a16="http://schemas.microsoft.com/office/drawing/2014/main" id="{5B792242-6B80-4661-B815-ECC78769A6F4}"/>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Pause here. You may take the headset off and ask the room facilitator for help.</a:t>
            </a:r>
          </a:p>
        </p:txBody>
      </p:sp>
      <p:sp>
        <p:nvSpPr>
          <p:cNvPr id="26" name="line-role-3">
            <a:extLst xmlns:a="http://schemas.openxmlformats.org/drawingml/2006/main">
              <a:ext uri="{FF2B5EF4-FFF2-40B4-BE49-F238E27FC236}">
                <a16:creationId xmlns:a16="http://schemas.microsoft.com/office/drawing/2014/main" id="{1774B237-C266-448A-9045-A449BC505A22}"/>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CHOICE</a:t>
            </a:r>
          </a:p>
        </p:txBody>
      </p:sp>
      <p:sp>
        <p:nvSpPr>
          <p:cNvPr id="27" name="line-3">
            <a:extLst xmlns:a="http://schemas.openxmlformats.org/drawingml/2006/main">
              <a:ext uri="{FF2B5EF4-FFF2-40B4-BE49-F238E27FC236}">
                <a16:creationId xmlns:a16="http://schemas.microsoft.com/office/drawing/2014/main" id="{4EE19295-6A38-4FD9-935A-1CDEF64A455D}"/>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Would you prefer the seated screen activity or a quiet break?</a:t>
            </a:r>
          </a:p>
        </p:txBody>
      </p:sp>
      <p:sp>
        <p:nvSpPr>
          <p:cNvPr id="28" name="">
            <a:extLst xmlns:a="http://schemas.openxmlformats.org/drawingml/2006/main">
              <a:ext uri="{FF2B5EF4-FFF2-40B4-BE49-F238E27FC236}">
                <a16:creationId xmlns:a16="http://schemas.microsoft.com/office/drawing/2014/main" id="{8552B776-D3FD-41BF-8424-E55CC2D0B17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310261CA-4476-4F55-9F52-43287F7EF584}"/>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8F01FD2A-6F21-4140-A916-60FD7ADB965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10</a:t>
            </a:r>
          </a:p>
        </p:txBody>
      </p:sp>
    </p:spTree>
    <p:extLst>
      <p:ext uri="{BB962C8B-B14F-4D97-AF65-F5344CB8AC3E}">
        <p14:creationId xmlns:p14="http://schemas.microsoft.com/office/powerpoint/2010/main" val="1486475157"/>
      </p:ext>
    </p:extLst>
  </p:cSld>
</p:sld>
</file>

<file path=ppt/slides/slide1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085AAD8-C51C-4F92-89C4-9A1C0647EC80}"/>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08</a:t>
            </a:r>
          </a:p>
        </p:txBody>
      </p:sp>
      <p:sp>
        <p:nvSpPr>
          <p:cNvPr id="3" name="title">
            <a:extLst xmlns:a="http://schemas.openxmlformats.org/drawingml/2006/main">
              <a:ext uri="{FF2B5EF4-FFF2-40B4-BE49-F238E27FC236}">
                <a16:creationId xmlns:a16="http://schemas.microsoft.com/office/drawing/2014/main" id="{B36BA118-884B-4A4F-BBB1-2C9714C937E9}"/>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PHYSICAL EDUCATION</a:t>
            </a:r>
          </a:p>
        </p:txBody>
      </p:sp>
      <p:sp>
        <p:nvSpPr>
          <p:cNvPr id="4" name="subtitle">
            <a:extLst xmlns:a="http://schemas.openxmlformats.org/drawingml/2006/main">
              <a:ext uri="{FF2B5EF4-FFF2-40B4-BE49-F238E27FC236}">
                <a16:creationId xmlns:a16="http://schemas.microsoft.com/office/drawing/2014/main" id="{C4D2E2E8-1BAE-4AD2-93F7-A1DA1D669B1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encouraging movement coach</a:t>
            </a:r>
          </a:p>
        </p:txBody>
      </p:sp>
      <p:sp>
        <p:nvSpPr>
          <p:cNvPr id="5" name="">
            <a:extLst xmlns:a="http://schemas.openxmlformats.org/drawingml/2006/main">
              <a:ext uri="{FF2B5EF4-FFF2-40B4-BE49-F238E27FC236}">
                <a16:creationId xmlns:a16="http://schemas.microsoft.com/office/drawing/2014/main" id="{34E64DF7-6A13-4A77-A1A1-18248CC0B73D}"/>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86DEE11A-1D77-4A0A-A8A4-598C68CE0233}"/>
              </a:ext>
            </a:extLst>
          </p:cNvPr>
          <p:cNvPicPr>
            <a:picLocks xmlns:a="http://schemas.openxmlformats.org/drawingml/2006/main" noChangeAspect="1"/>
          </p:cNvPicPr>
          <p:nvPr/>
        </p:nvPicPr>
        <p:blipFill>
          <a:blip xmlns:r="http://schemas.openxmlformats.org/officeDocument/2006/relationships" xmlns:a="http://schemas.openxmlformats.org/drawingml/2006/main" r:embed="R275f955fa25f4e40"/>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23EB374A-C313-48A3-AADA-2EF5854D63B7}"/>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GNOLL</a:t>
            </a:r>
          </a:p>
        </p:txBody>
      </p:sp>
      <p:sp>
        <p:nvSpPr>
          <p:cNvPr id="8" name="identity">
            <a:extLst xmlns:a="http://schemas.openxmlformats.org/drawingml/2006/main">
              <a:ext uri="{FF2B5EF4-FFF2-40B4-BE49-F238E27FC236}">
                <a16:creationId xmlns:a16="http://schemas.microsoft.com/office/drawing/2014/main" id="{7B5F638B-00A7-4D57-97E7-43E92225E076}"/>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Barbarian</a:t>
            </a:r>
          </a:p>
        </p:txBody>
      </p:sp>
      <p:sp>
        <p:nvSpPr>
          <p:cNvPr id="9" name="location">
            <a:extLst xmlns:a="http://schemas.openxmlformats.org/drawingml/2006/main">
              <a:ext uri="{FF2B5EF4-FFF2-40B4-BE49-F238E27FC236}">
                <a16:creationId xmlns:a16="http://schemas.microsoft.com/office/drawing/2014/main" id="{F73C4C0D-D62A-40F2-B6CB-0149BD0BDEE1}"/>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Gnoll’s Cave</a:t>
            </a:r>
          </a:p>
        </p:txBody>
      </p:sp>
      <p:sp>
        <p:nvSpPr>
          <p:cNvPr id="10" name="hook-label">
            <a:extLst xmlns:a="http://schemas.openxmlformats.org/drawingml/2006/main">
              <a:ext uri="{FF2B5EF4-FFF2-40B4-BE49-F238E27FC236}">
                <a16:creationId xmlns:a16="http://schemas.microsoft.com/office/drawing/2014/main" id="{F8345E6A-5427-4BFB-AD32-311C9128C5B9}"/>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F9D6A8C-58CE-4542-A53B-37C5DBD61DD5}"/>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Try or describe a gentle reach, then return to rest.</a:t>
            </a:r>
          </a:p>
        </p:txBody>
      </p:sp>
      <p:sp>
        <p:nvSpPr>
          <p:cNvPr id="12" name="voice-label">
            <a:extLst xmlns:a="http://schemas.openxmlformats.org/drawingml/2006/main">
              <a:ext uri="{FF2B5EF4-FFF2-40B4-BE49-F238E27FC236}">
                <a16:creationId xmlns:a16="http://schemas.microsoft.com/office/drawing/2014/main" id="{EC00ED72-D9E1-44EC-BD84-8FD1C0AF7EA6}"/>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DB0409BD-A870-47DC-847D-81F1A8F249DA}"/>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gnoll, adult. Studio quality. Warm middle register with forward muzzle resonance and a dry, friendly rasp. Crisp rhythmic counting suggests her athletic build. A good-humored coach, energetic at classroom volume. Soften during reassurance, separate each instruction, and leave time for the learner to try. Keep every word clear.</a:t>
            </a:r>
          </a:p>
        </p:txBody>
      </p:sp>
      <p:sp>
        <p:nvSpPr>
          <p:cNvPr id="14" name="pace">
            <a:extLst xmlns:a="http://schemas.openxmlformats.org/drawingml/2006/main">
              <a:ext uri="{FF2B5EF4-FFF2-40B4-BE49-F238E27FC236}">
                <a16:creationId xmlns:a16="http://schemas.microsoft.com/office/drawing/2014/main" id="{EE14F37D-E07D-4BE9-8470-7C253FC8D898}"/>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140–155 words/min  (acting target)</a:t>
            </a:r>
          </a:p>
        </p:txBody>
      </p:sp>
      <p:sp>
        <p:nvSpPr>
          <p:cNvPr id="15" name="movement-label">
            <a:extLst xmlns:a="http://schemas.openxmlformats.org/drawingml/2006/main">
              <a:ext uri="{FF2B5EF4-FFF2-40B4-BE49-F238E27FC236}">
                <a16:creationId xmlns:a16="http://schemas.microsoft.com/office/drawing/2014/main" id="{021D5A46-95A5-425C-B3D2-0B1FFABB3E41}"/>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7ABEE9E-C6CA-4BA5-A439-B4A7590AB8A5}"/>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relaxed digitigrade walk. Ears and tail follow the body with light delayed motion.</a:t>
            </a:r>
          </a:p>
        </p:txBody>
      </p:sp>
      <p:sp>
        <p:nvSpPr>
          <p:cNvPr id="17" name="movement-1">
            <a:extLst xmlns:a="http://schemas.openxmlformats.org/drawingml/2006/main">
              <a:ext uri="{FF2B5EF4-FFF2-40B4-BE49-F238E27FC236}">
                <a16:creationId xmlns:a16="http://schemas.microsoft.com/office/drawing/2014/main" id="{80114B84-DFD1-42F9-879E-1C38DC66D5F0}"/>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Demonstrate a small shoulder reach and reset. Count visibly with fingers at a steady tempo.</a:t>
            </a:r>
          </a:p>
        </p:txBody>
      </p:sp>
      <p:sp>
        <p:nvSpPr>
          <p:cNvPr id="18" name="movement-2">
            <a:extLst xmlns:a="http://schemas.openxmlformats.org/drawingml/2006/main">
              <a:ext uri="{FF2B5EF4-FFF2-40B4-BE49-F238E27FC236}">
                <a16:creationId xmlns:a16="http://schemas.microsoft.com/office/drawing/2014/main" id="{DC86075F-4CE7-41BA-A921-C2AD7A32584A}"/>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Celebrate with a low fist pump. Keep jumps and running out of the first VR lesson.</a:t>
            </a:r>
          </a:p>
        </p:txBody>
      </p:sp>
      <p:sp>
        <p:nvSpPr>
          <p:cNvPr id="19" name="dialogue-label">
            <a:extLst xmlns:a="http://schemas.openxmlformats.org/drawingml/2006/main">
              <a:ext uri="{FF2B5EF4-FFF2-40B4-BE49-F238E27FC236}">
                <a16:creationId xmlns:a16="http://schemas.microsoft.com/office/drawing/2014/main" id="{30B3516B-DCED-4C90-9FB9-539F2B79A3C4}"/>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D9C00BD9-6EDC-47F2-8F05-E5F9691F1E9D}"/>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A528E5FE-1887-4071-BAB5-5E0371B9753C}"/>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team. Choose a comfortable position. Seated works too.</a:t>
            </a:r>
          </a:p>
        </p:txBody>
      </p:sp>
      <p:sp>
        <p:nvSpPr>
          <p:cNvPr id="22" name="line-role-1">
            <a:extLst xmlns:a="http://schemas.openxmlformats.org/drawingml/2006/main">
              <a:ext uri="{FF2B5EF4-FFF2-40B4-BE49-F238E27FC236}">
                <a16:creationId xmlns:a16="http://schemas.microsoft.com/office/drawing/2014/main" id="{3D1F65F5-B744-4A47-8DD1-1838A7B26B1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724BEAA-5BC2-445F-8B3E-BCE6511FD889}"/>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Do I have to keep up with everyone?</a:t>
            </a:r>
          </a:p>
        </p:txBody>
      </p:sp>
      <p:sp>
        <p:nvSpPr>
          <p:cNvPr id="24" name="line-role-2">
            <a:extLst xmlns:a="http://schemas.openxmlformats.org/drawingml/2006/main">
              <a:ext uri="{FF2B5EF4-FFF2-40B4-BE49-F238E27FC236}">
                <a16:creationId xmlns:a16="http://schemas.microsoft.com/office/drawing/2014/main" id="{DB34F9F4-2503-46EF-86A6-24C0FDDE24D4}"/>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7AD8B8F-3984-40A9-ADDC-BFCE0354A24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your own pace. We are practicing control.</a:t>
            </a:r>
          </a:p>
        </p:txBody>
      </p:sp>
      <p:sp>
        <p:nvSpPr>
          <p:cNvPr id="26" name="line-role-3">
            <a:extLst xmlns:a="http://schemas.openxmlformats.org/drawingml/2006/main">
              <a:ext uri="{FF2B5EF4-FFF2-40B4-BE49-F238E27FC236}">
                <a16:creationId xmlns:a16="http://schemas.microsoft.com/office/drawing/2014/main" id="{F52B74E4-A047-4744-AF0E-0163A7C84EB8}"/>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09DC14A9-1249-4F20-89D1-56DF20A558AD}"/>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Reach gently within your clear space, then return to rest. Tell me when you are ready.</a:t>
            </a:r>
          </a:p>
        </p:txBody>
      </p:sp>
      <p:sp>
        <p:nvSpPr>
          <p:cNvPr id="28" name="">
            <a:extLst xmlns:a="http://schemas.openxmlformats.org/drawingml/2006/main">
              <a:ext uri="{FF2B5EF4-FFF2-40B4-BE49-F238E27FC236}">
                <a16:creationId xmlns:a16="http://schemas.microsoft.com/office/drawing/2014/main" id="{31A7745F-D3F3-4F85-9EF0-E06BDB66301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52D8B36B-C594-4B8D-8379-C836DC7C661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CCCA49E1-A9EA-4AB5-9EFC-1601EE2D23CD}"/>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11</a:t>
            </a:r>
          </a:p>
        </p:txBody>
      </p:sp>
    </p:spTree>
    <p:extLst>
      <p:ext uri="{BB962C8B-B14F-4D97-AF65-F5344CB8AC3E}">
        <p14:creationId xmlns:p14="http://schemas.microsoft.com/office/powerpoint/2010/main" val="2043332632"/>
      </p:ext>
    </p:extLst>
  </p:cSld>
</p:sld>
</file>

<file path=ppt/slides/slide12.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7820262C-A5F1-4624-A5E7-7F2B08D09DF4}"/>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09</a:t>
            </a:r>
          </a:p>
        </p:txBody>
      </p:sp>
      <p:sp>
        <p:nvSpPr>
          <p:cNvPr id="3" name="title">
            <a:extLst xmlns:a="http://schemas.openxmlformats.org/drawingml/2006/main">
              <a:ext uri="{FF2B5EF4-FFF2-40B4-BE49-F238E27FC236}">
                <a16:creationId xmlns:a16="http://schemas.microsoft.com/office/drawing/2014/main" id="{D0A04762-973A-429E-A25D-5AA827F13E4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ART</a:t>
            </a:r>
          </a:p>
        </p:txBody>
      </p:sp>
      <p:sp>
        <p:nvSpPr>
          <p:cNvPr id="4" name="subtitle">
            <a:extLst xmlns:a="http://schemas.openxmlformats.org/drawingml/2006/main">
              <a:ext uri="{FF2B5EF4-FFF2-40B4-BE49-F238E27FC236}">
                <a16:creationId xmlns:a16="http://schemas.microsoft.com/office/drawing/2014/main" id="{61CFEAEB-6624-4314-B94F-368F4E7F223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playful experimenter</a:t>
            </a:r>
          </a:p>
        </p:txBody>
      </p:sp>
      <p:sp>
        <p:nvSpPr>
          <p:cNvPr id="5" name="">
            <a:extLst xmlns:a="http://schemas.openxmlformats.org/drawingml/2006/main">
              <a:ext uri="{FF2B5EF4-FFF2-40B4-BE49-F238E27FC236}">
                <a16:creationId xmlns:a16="http://schemas.microsoft.com/office/drawing/2014/main" id="{5105E3B5-0AF9-4EE7-BAE0-E9015CE02FB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DD442B9B-43EB-4EAC-897A-3B17AEB99791}"/>
              </a:ext>
            </a:extLst>
          </p:cNvPr>
          <p:cNvPicPr>
            <a:picLocks xmlns:a="http://schemas.openxmlformats.org/drawingml/2006/main" noChangeAspect="1"/>
          </p:cNvPicPr>
          <p:nvPr/>
        </p:nvPicPr>
        <p:blipFill>
          <a:blip xmlns:r="http://schemas.openxmlformats.org/officeDocument/2006/relationships" xmlns:a="http://schemas.openxmlformats.org/drawingml/2006/main" r:embed="Rdda111b87b0a462c"/>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3509B41C-304C-48EA-B782-CF4393306002}"/>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OOBLECK</a:t>
            </a:r>
          </a:p>
        </p:txBody>
      </p:sp>
      <p:sp>
        <p:nvSpPr>
          <p:cNvPr id="8" name="identity">
            <a:extLst xmlns:a="http://schemas.openxmlformats.org/drawingml/2006/main">
              <a:ext uri="{FF2B5EF4-FFF2-40B4-BE49-F238E27FC236}">
                <a16:creationId xmlns:a16="http://schemas.microsoft.com/office/drawing/2014/main" id="{A16D5485-1737-462F-B144-99D86C4C11DB}"/>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Non-binary  /  Artificer</a:t>
            </a:r>
          </a:p>
        </p:txBody>
      </p:sp>
      <p:sp>
        <p:nvSpPr>
          <p:cNvPr id="9" name="location">
            <a:extLst xmlns:a="http://schemas.openxmlformats.org/drawingml/2006/main">
              <a:ext uri="{FF2B5EF4-FFF2-40B4-BE49-F238E27FC236}">
                <a16:creationId xmlns:a16="http://schemas.microsoft.com/office/drawing/2014/main" id="{71B7CE8E-4486-4B41-9E2B-A84CC0F9109B}"/>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Oobleck’s Workshop</a:t>
            </a:r>
          </a:p>
        </p:txBody>
      </p:sp>
      <p:sp>
        <p:nvSpPr>
          <p:cNvPr id="10" name="hook-label">
            <a:extLst xmlns:a="http://schemas.openxmlformats.org/drawingml/2006/main">
              <a:ext uri="{FF2B5EF4-FFF2-40B4-BE49-F238E27FC236}">
                <a16:creationId xmlns:a16="http://schemas.microsoft.com/office/drawing/2014/main" id="{507362FE-0FE3-4763-A649-416374F5A0D0}"/>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464A50E-2C3B-4AE0-9217-EA9ADE8FF4F6}"/>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Make a color-and-shape emblem. Explain one choice, with a fictional mood if preferred.</a:t>
            </a:r>
          </a:p>
        </p:txBody>
      </p:sp>
      <p:sp>
        <p:nvSpPr>
          <p:cNvPr id="12" name="voice-label">
            <a:extLst xmlns:a="http://schemas.openxmlformats.org/drawingml/2006/main">
              <a:ext uri="{FF2B5EF4-FFF2-40B4-BE49-F238E27FC236}">
                <a16:creationId xmlns:a16="http://schemas.microsoft.com/office/drawing/2014/main" id="{77C09848-6B6E-42DE-9DC4-E5EC73E88502}"/>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F2C31107-D593-4CF6-8A1C-38F4F91169BC}"/>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Non-binary oobleck, adult, they/them. Studio quality. Soft middle register with rounded, gently viscous vowels and small elastic pitch slides. Their fluid body suggests a voice that reshapes a phrase as ideas arrive. A playful, encouraging studio teacher. Use buoyant phrasing and warm endings. Keep consonants distinct and instructions easy to follow.</a:t>
            </a:r>
          </a:p>
        </p:txBody>
      </p:sp>
      <p:sp>
        <p:nvSpPr>
          <p:cNvPr id="14" name="pace">
            <a:extLst xmlns:a="http://schemas.openxmlformats.org/drawingml/2006/main">
              <a:ext uri="{FF2B5EF4-FFF2-40B4-BE49-F238E27FC236}">
                <a16:creationId xmlns:a16="http://schemas.microsoft.com/office/drawing/2014/main" id="{F9193809-07AB-4D3D-8726-AF0BEE460ED6}"/>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7202D4E9-85BD-487E-9A2E-8277E936373A}"/>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26705060-4F5C-42BF-BD95-A1C4727FAB69}"/>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Flow forward as one slime mass. Compress before travel and stretch slightly on arrival.</a:t>
            </a:r>
          </a:p>
        </p:txBody>
      </p:sp>
      <p:sp>
        <p:nvSpPr>
          <p:cNvPr id="17" name="movement-1">
            <a:extLst xmlns:a="http://schemas.openxmlformats.org/drawingml/2006/main">
              <a:ext uri="{FF2B5EF4-FFF2-40B4-BE49-F238E27FC236}">
                <a16:creationId xmlns:a16="http://schemas.microsoft.com/office/drawing/2014/main" id="{444E3FCC-2C47-4363-920F-61F419F7118D}"/>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Form a broad base before using a brush. Small drips return to the body rather than scatter.</a:t>
            </a:r>
          </a:p>
        </p:txBody>
      </p:sp>
      <p:sp>
        <p:nvSpPr>
          <p:cNvPr id="18" name="movement-2">
            <a:extLst xmlns:a="http://schemas.openxmlformats.org/drawingml/2006/main">
              <a:ext uri="{FF2B5EF4-FFF2-40B4-BE49-F238E27FC236}">
                <a16:creationId xmlns:a16="http://schemas.microsoft.com/office/drawing/2014/main" id="{63D5D9E7-03FE-4EDC-A915-A64A461BFF53}"/>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hand reshapes into a simple tool grip. Hold the finished mark still for students to inspect.</a:t>
            </a:r>
          </a:p>
        </p:txBody>
      </p:sp>
      <p:sp>
        <p:nvSpPr>
          <p:cNvPr id="19" name="dialogue-label">
            <a:extLst xmlns:a="http://schemas.openxmlformats.org/drawingml/2006/main">
              <a:ext uri="{FF2B5EF4-FFF2-40B4-BE49-F238E27FC236}">
                <a16:creationId xmlns:a16="http://schemas.microsoft.com/office/drawing/2014/main" id="{642A109D-012C-4C1D-A4B6-3DD2D6F7755C}"/>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F75694E8-B927-4C70-ABD1-1286FCA7CD5F}"/>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0DB2EFC5-6F53-4759-93E5-1749CA1709C5}"/>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the studio. This shape was a square a moment ago.</a:t>
            </a:r>
          </a:p>
        </p:txBody>
      </p:sp>
      <p:sp>
        <p:nvSpPr>
          <p:cNvPr id="22" name="line-role-1">
            <a:extLst xmlns:a="http://schemas.openxmlformats.org/drawingml/2006/main">
              <a:ext uri="{FF2B5EF4-FFF2-40B4-BE49-F238E27FC236}">
                <a16:creationId xmlns:a16="http://schemas.microsoft.com/office/drawing/2014/main" id="{382BF6DA-3587-4349-9D86-6FEF3A316D53}"/>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3DA51DE9-FE63-4B71-98CE-BCF1B16D87BC}"/>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My picture does not look real.</a:t>
            </a:r>
          </a:p>
        </p:txBody>
      </p:sp>
      <p:sp>
        <p:nvSpPr>
          <p:cNvPr id="24" name="line-role-2">
            <a:extLst xmlns:a="http://schemas.openxmlformats.org/drawingml/2006/main">
              <a:ext uri="{FF2B5EF4-FFF2-40B4-BE49-F238E27FC236}">
                <a16:creationId xmlns:a16="http://schemas.microsoft.com/office/drawing/2014/main" id="{20F02A39-D735-4E51-9669-810F1661B07F}"/>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4550AA8F-3797-4872-AB6F-5A8F4ABEF03C}"/>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It can still say something. Tell me what you want it to feel like.</a:t>
            </a:r>
          </a:p>
        </p:txBody>
      </p:sp>
      <p:sp>
        <p:nvSpPr>
          <p:cNvPr id="26" name="line-role-3">
            <a:extLst xmlns:a="http://schemas.openxmlformats.org/drawingml/2006/main">
              <a:ext uri="{FF2B5EF4-FFF2-40B4-BE49-F238E27FC236}">
                <a16:creationId xmlns:a16="http://schemas.microsoft.com/office/drawing/2014/main" id="{2F45BD7F-5CF7-4EBD-8ECB-866B0DB5F709}"/>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72F4B4D8-5C26-438A-9895-F6AD35891841}"/>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two colors and one shape to show your first-day mood. You may keep its meaning private.</a:t>
            </a:r>
          </a:p>
        </p:txBody>
      </p:sp>
      <p:sp>
        <p:nvSpPr>
          <p:cNvPr id="28" name="">
            <a:extLst xmlns:a="http://schemas.openxmlformats.org/drawingml/2006/main">
              <a:ext uri="{FF2B5EF4-FFF2-40B4-BE49-F238E27FC236}">
                <a16:creationId xmlns:a16="http://schemas.microsoft.com/office/drawing/2014/main" id="{34EEE817-7C2C-44D3-8C35-9D73C43841D0}"/>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9C98056C-F03C-4A5F-A64E-0B80CB8A93E2}"/>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16C5C6B0-327D-4618-81B1-A4B496A36B6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12</a:t>
            </a:r>
          </a:p>
        </p:txBody>
      </p:sp>
    </p:spTree>
    <p:extLst>
      <p:ext uri="{BB962C8B-B14F-4D97-AF65-F5344CB8AC3E}">
        <p14:creationId xmlns:p14="http://schemas.microsoft.com/office/powerpoint/2010/main" val="1759744914"/>
      </p:ext>
    </p:extLst>
  </p:cSld>
</p:sld>
</file>

<file path=ppt/slides/slide13.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406D8BA5-214C-416F-9A68-7879D672387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10</a:t>
            </a:r>
          </a:p>
        </p:txBody>
      </p:sp>
      <p:sp>
        <p:nvSpPr>
          <p:cNvPr id="3" name="title">
            <a:extLst xmlns:a="http://schemas.openxmlformats.org/drawingml/2006/main">
              <a:ext uri="{FF2B5EF4-FFF2-40B4-BE49-F238E27FC236}">
                <a16:creationId xmlns:a16="http://schemas.microsoft.com/office/drawing/2014/main" id="{C225305E-B02B-4ED7-9F91-053AA8821FDA}"/>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MUSIC</a:t>
            </a:r>
          </a:p>
        </p:txBody>
      </p:sp>
      <p:sp>
        <p:nvSpPr>
          <p:cNvPr id="4" name="subtitle">
            <a:extLst xmlns:a="http://schemas.openxmlformats.org/drawingml/2006/main">
              <a:ext uri="{FF2B5EF4-FFF2-40B4-BE49-F238E27FC236}">
                <a16:creationId xmlns:a16="http://schemas.microsoft.com/office/drawing/2014/main" id="{13BD7E21-CE39-40B6-B956-A7ABBD49790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welcoming rhythm maker</a:t>
            </a:r>
          </a:p>
        </p:txBody>
      </p:sp>
      <p:sp>
        <p:nvSpPr>
          <p:cNvPr id="5" name="">
            <a:extLst xmlns:a="http://schemas.openxmlformats.org/drawingml/2006/main">
              <a:ext uri="{FF2B5EF4-FFF2-40B4-BE49-F238E27FC236}">
                <a16:creationId xmlns:a16="http://schemas.microsoft.com/office/drawing/2014/main" id="{1EBC3738-1D16-4236-9FD8-4C8B2E0788EE}"/>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AAE546F2-E8F9-48C2-B748-7D3FAE6564D0}"/>
              </a:ext>
            </a:extLst>
          </p:cNvPr>
          <p:cNvPicPr>
            <a:picLocks xmlns:a="http://schemas.openxmlformats.org/drawingml/2006/main" noChangeAspect="1"/>
          </p:cNvPicPr>
          <p:nvPr/>
        </p:nvPicPr>
        <p:blipFill>
          <a:blip xmlns:r="http://schemas.openxmlformats.org/officeDocument/2006/relationships" xmlns:a="http://schemas.openxmlformats.org/drawingml/2006/main" r:embed="Rca39a700db774fac"/>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719E7BE9-1EFA-4013-8024-543CB78C0B01}"/>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GOBLIN BARD</a:t>
            </a:r>
          </a:p>
        </p:txBody>
      </p:sp>
      <p:sp>
        <p:nvSpPr>
          <p:cNvPr id="8" name="identity">
            <a:extLst xmlns:a="http://schemas.openxmlformats.org/drawingml/2006/main">
              <a:ext uri="{FF2B5EF4-FFF2-40B4-BE49-F238E27FC236}">
                <a16:creationId xmlns:a16="http://schemas.microsoft.com/office/drawing/2014/main" id="{5B5E562C-FD81-4DB4-BBD5-1178ED2FF90F}"/>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Bard</a:t>
            </a:r>
          </a:p>
        </p:txBody>
      </p:sp>
      <p:sp>
        <p:nvSpPr>
          <p:cNvPr id="9" name="location">
            <a:extLst xmlns:a="http://schemas.openxmlformats.org/drawingml/2006/main">
              <a:ext uri="{FF2B5EF4-FFF2-40B4-BE49-F238E27FC236}">
                <a16:creationId xmlns:a16="http://schemas.microsoft.com/office/drawing/2014/main" id="{2FC262D5-385A-43B1-9D3D-3E7B7213B702}"/>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Goblin’s Workshop</a:t>
            </a:r>
          </a:p>
        </p:txBody>
      </p:sp>
      <p:sp>
        <p:nvSpPr>
          <p:cNvPr id="10" name="hook-label">
            <a:extLst xmlns:a="http://schemas.openxmlformats.org/drawingml/2006/main">
              <a:ext uri="{FF2B5EF4-FFF2-40B4-BE49-F238E27FC236}">
                <a16:creationId xmlns:a16="http://schemas.microsoft.com/office/drawing/2014/main" id="{20C1013C-9184-4C22-88D5-3F0A6D9A3D97}"/>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004390E3-F4FB-45B3-9774-DF8D85941B68}"/>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Copy a four-beat pattern. Identify the rest on beat three.</a:t>
            </a:r>
          </a:p>
        </p:txBody>
      </p:sp>
      <p:sp>
        <p:nvSpPr>
          <p:cNvPr id="12" name="voice-label">
            <a:extLst xmlns:a="http://schemas.openxmlformats.org/drawingml/2006/main">
              <a:ext uri="{FF2B5EF4-FFF2-40B4-BE49-F238E27FC236}">
                <a16:creationId xmlns:a16="http://schemas.microsoft.com/office/drawing/2014/main" id="{54157001-D1C6-4194-AFBC-071603C24E97}"/>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BB71F350-CF3C-4D5D-A232-48C0D69E7965}"/>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25–40. Studio quality. Persona: inventive music workshop leader. Emotion: bright, welcoming. A lively light alto with a faint husky edge, nimble consonants, and playful pitch changes. Speak with rhythmic clarity while leaving space for a reply. Warm encouragement, controlled volume, and clean spoken counting.</a:t>
            </a:r>
          </a:p>
        </p:txBody>
      </p:sp>
      <p:sp>
        <p:nvSpPr>
          <p:cNvPr id="14" name="pace">
            <a:extLst xmlns:a="http://schemas.openxmlformats.org/drawingml/2006/main">
              <a:ext uri="{FF2B5EF4-FFF2-40B4-BE49-F238E27FC236}">
                <a16:creationId xmlns:a16="http://schemas.microsoft.com/office/drawing/2014/main" id="{2B73A818-7AB7-4593-BABF-505FAF9781BE}"/>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140–155 words/min  (acting target)</a:t>
            </a:r>
          </a:p>
        </p:txBody>
      </p:sp>
      <p:sp>
        <p:nvSpPr>
          <p:cNvPr id="15" name="movement-label">
            <a:extLst xmlns:a="http://schemas.openxmlformats.org/drawingml/2006/main">
              <a:ext uri="{FF2B5EF4-FFF2-40B4-BE49-F238E27FC236}">
                <a16:creationId xmlns:a16="http://schemas.microsoft.com/office/drawing/2014/main" id="{8FB544A7-B1A8-4629-8800-1DE48458649D}"/>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9F059A05-BD67-4155-8E74-8D2B3C9B68E8}"/>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Take small, quick steps that settle into a planted stance. Tap a toe only during a beat.</a:t>
            </a:r>
          </a:p>
        </p:txBody>
      </p:sp>
      <p:sp>
        <p:nvSpPr>
          <p:cNvPr id="17" name="movement-1">
            <a:extLst xmlns:a="http://schemas.openxmlformats.org/drawingml/2006/main">
              <a:ext uri="{FF2B5EF4-FFF2-40B4-BE49-F238E27FC236}">
                <a16:creationId xmlns:a16="http://schemas.microsoft.com/office/drawing/2014/main" id="{916CAB4B-5468-43C4-B29F-1EB0501C7AA5}"/>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Lead with a short wrist pickup, then four clear downbeats. Keep the instrument steady.</a:t>
            </a:r>
          </a:p>
        </p:txBody>
      </p:sp>
      <p:sp>
        <p:nvSpPr>
          <p:cNvPr id="18" name="movement-2">
            <a:extLst xmlns:a="http://schemas.openxmlformats.org/drawingml/2006/main">
              <a:ext uri="{FF2B5EF4-FFF2-40B4-BE49-F238E27FC236}">
                <a16:creationId xmlns:a16="http://schemas.microsoft.com/office/drawing/2014/main" id="{4992BF59-C4AF-40D7-BC6E-3D3F6BC4C64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Still the hands and instrument while a student answers. Avoid constant background strumming.</a:t>
            </a:r>
          </a:p>
        </p:txBody>
      </p:sp>
      <p:sp>
        <p:nvSpPr>
          <p:cNvPr id="19" name="dialogue-label">
            <a:extLst xmlns:a="http://schemas.openxmlformats.org/drawingml/2006/main">
              <a:ext uri="{FF2B5EF4-FFF2-40B4-BE49-F238E27FC236}">
                <a16:creationId xmlns:a16="http://schemas.microsoft.com/office/drawing/2014/main" id="{91BD7CA3-B261-45EF-AB7B-F94D373C132B}"/>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30AD076F-897C-4D33-8955-966725BDF107}"/>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A4E092E9-7563-497B-9A19-179B9DF54F30}"/>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musicians. Let us borrow a heartbeat and make a pattern.</a:t>
            </a:r>
          </a:p>
        </p:txBody>
      </p:sp>
      <p:sp>
        <p:nvSpPr>
          <p:cNvPr id="22" name="line-role-1">
            <a:extLst xmlns:a="http://schemas.openxmlformats.org/drawingml/2006/main">
              <a:ext uri="{FF2B5EF4-FFF2-40B4-BE49-F238E27FC236}">
                <a16:creationId xmlns:a16="http://schemas.microsoft.com/office/drawing/2014/main" id="{A6D28384-65E4-4552-8843-35305D5E6E9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947C5F63-1449-41E6-A5AD-719FA9651BC4}"/>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do not play an instrument.</a:t>
            </a:r>
          </a:p>
        </p:txBody>
      </p:sp>
      <p:sp>
        <p:nvSpPr>
          <p:cNvPr id="24" name="line-role-2">
            <a:extLst xmlns:a="http://schemas.openxmlformats.org/drawingml/2006/main">
              <a:ext uri="{FF2B5EF4-FFF2-40B4-BE49-F238E27FC236}">
                <a16:creationId xmlns:a16="http://schemas.microsoft.com/office/drawing/2014/main" id="{E60F89CB-91C0-48A9-8038-346C211A9B81}"/>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493F96C-97C4-4443-977B-B2FEDA90B8C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can tap, watch, or arrange the beat tiles.</a:t>
            </a:r>
          </a:p>
        </p:txBody>
      </p:sp>
      <p:sp>
        <p:nvSpPr>
          <p:cNvPr id="26" name="line-role-3">
            <a:extLst xmlns:a="http://schemas.openxmlformats.org/drawingml/2006/main">
              <a:ext uri="{FF2B5EF4-FFF2-40B4-BE49-F238E27FC236}">
                <a16:creationId xmlns:a16="http://schemas.microsoft.com/office/drawing/2014/main" id="{CAD9F065-1762-45F8-8D76-63451A340857}"/>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8C232911-9AE1-47EB-B0C4-3B8420D637F2}"/>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four beats: tap, tap, rest, tap. Which beat stays silent?</a:t>
            </a:r>
          </a:p>
        </p:txBody>
      </p:sp>
      <p:sp>
        <p:nvSpPr>
          <p:cNvPr id="28" name="">
            <a:extLst xmlns:a="http://schemas.openxmlformats.org/drawingml/2006/main">
              <a:ext uri="{FF2B5EF4-FFF2-40B4-BE49-F238E27FC236}">
                <a16:creationId xmlns:a16="http://schemas.microsoft.com/office/drawing/2014/main" id="{07AA53B5-F18B-47B8-BD55-EA4AA7663DB6}"/>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C9331E84-CC13-416F-8A94-F0BE9350EB6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228492D-174F-4898-B473-40049CA79D3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13</a:t>
            </a:r>
          </a:p>
        </p:txBody>
      </p:sp>
    </p:spTree>
    <p:extLst>
      <p:ext uri="{BB962C8B-B14F-4D97-AF65-F5344CB8AC3E}">
        <p14:creationId xmlns:p14="http://schemas.microsoft.com/office/powerpoint/2010/main" val="83646507"/>
      </p:ext>
    </p:extLst>
  </p:cSld>
</p:sld>
</file>

<file path=ppt/slides/slide14.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A07AD3B-BE1F-4001-99A8-6CCCDEA584A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11</a:t>
            </a:r>
          </a:p>
        </p:txBody>
      </p:sp>
      <p:sp>
        <p:nvSpPr>
          <p:cNvPr id="3" name="title">
            <a:extLst xmlns:a="http://schemas.openxmlformats.org/drawingml/2006/main">
              <a:ext uri="{FF2B5EF4-FFF2-40B4-BE49-F238E27FC236}">
                <a16:creationId xmlns:a16="http://schemas.microsoft.com/office/drawing/2014/main" id="{2A28B4B8-1653-450A-8082-6E04C706687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DRAMA</a:t>
            </a:r>
          </a:p>
        </p:txBody>
      </p:sp>
      <p:sp>
        <p:nvSpPr>
          <p:cNvPr id="4" name="subtitle">
            <a:extLst xmlns:a="http://schemas.openxmlformats.org/drawingml/2006/main">
              <a:ext uri="{FF2B5EF4-FFF2-40B4-BE49-F238E27FC236}">
                <a16:creationId xmlns:a16="http://schemas.microsoft.com/office/drawing/2014/main" id="{8EC02490-D686-4A9B-9636-38EF9FD3A0A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attentive scene partner</a:t>
            </a:r>
          </a:p>
        </p:txBody>
      </p:sp>
      <p:sp>
        <p:nvSpPr>
          <p:cNvPr id="5" name="">
            <a:extLst xmlns:a="http://schemas.openxmlformats.org/drawingml/2006/main">
              <a:ext uri="{FF2B5EF4-FFF2-40B4-BE49-F238E27FC236}">
                <a16:creationId xmlns:a16="http://schemas.microsoft.com/office/drawing/2014/main" id="{99302C13-F39E-4BF6-A74D-904AC0804FA7}"/>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932A2E0E-105F-45C6-A249-050B56361768}"/>
              </a:ext>
            </a:extLst>
          </p:cNvPr>
          <p:cNvPicPr>
            <a:picLocks xmlns:a="http://schemas.openxmlformats.org/drawingml/2006/main" noChangeAspect="1"/>
          </p:cNvPicPr>
          <p:nvPr/>
        </p:nvPicPr>
        <p:blipFill>
          <a:blip xmlns:r="http://schemas.openxmlformats.org/officeDocument/2006/relationships" xmlns:a="http://schemas.openxmlformats.org/drawingml/2006/main" r:embed="R7c78eb8f47e6426e"/>
          <a:srcRect xmlns:a="http://schemas.openxmlformats.org/drawingml/2006/main" l="0" t="0" r="0" b="0"/>
          <a:stretch xmlns:a="http://schemas.openxmlformats.org/drawingml/2006/main"/>
        </p:blipFill>
        <p:spPr>
          <a:xfrm xmlns:a="http://schemas.openxmlformats.org/drawingml/2006/main">
            <a:off x="898525" y="2143125"/>
            <a:ext cx="2603500" cy="39052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D2399C0A-BE0D-4E9A-A0C7-52882E255389}"/>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MEDUSA</a:t>
            </a:r>
          </a:p>
        </p:txBody>
      </p:sp>
      <p:sp>
        <p:nvSpPr>
          <p:cNvPr id="8" name="identity">
            <a:extLst xmlns:a="http://schemas.openxmlformats.org/drawingml/2006/main">
              <a:ext uri="{FF2B5EF4-FFF2-40B4-BE49-F238E27FC236}">
                <a16:creationId xmlns:a16="http://schemas.microsoft.com/office/drawing/2014/main" id="{6E69CAA3-81F8-4DE1-9D70-F7E646843AD8}"/>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Sorcerer</a:t>
            </a:r>
          </a:p>
        </p:txBody>
      </p:sp>
      <p:sp>
        <p:nvSpPr>
          <p:cNvPr id="9" name="location">
            <a:extLst xmlns:a="http://schemas.openxmlformats.org/drawingml/2006/main">
              <a:ext uri="{FF2B5EF4-FFF2-40B4-BE49-F238E27FC236}">
                <a16:creationId xmlns:a16="http://schemas.microsoft.com/office/drawing/2014/main" id="{73F9EFE0-3FAC-4E91-970D-D1534FFB47E3}"/>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Medusa’s Lair</a:t>
            </a:r>
          </a:p>
        </p:txBody>
      </p:sp>
      <p:sp>
        <p:nvSpPr>
          <p:cNvPr id="10" name="hook-label">
            <a:extLst xmlns:a="http://schemas.openxmlformats.org/drawingml/2006/main">
              <a:ext uri="{FF2B5EF4-FFF2-40B4-BE49-F238E27FC236}">
                <a16:creationId xmlns:a16="http://schemas.microsoft.com/office/drawing/2014/main" id="{A46C8FF1-D6CB-4215-B40E-F6EBCC150C7D}"/>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EDB53D71-58AD-4A86-B678-0F1369FC4A37}"/>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Compare two readings of a line. Identify the intended emotion.</a:t>
            </a:r>
          </a:p>
        </p:txBody>
      </p:sp>
      <p:sp>
        <p:nvSpPr>
          <p:cNvPr id="12" name="voice-label">
            <a:extLst xmlns:a="http://schemas.openxmlformats.org/drawingml/2006/main">
              <a:ext uri="{FF2B5EF4-FFF2-40B4-BE49-F238E27FC236}">
                <a16:creationId xmlns:a16="http://schemas.microsoft.com/office/drawing/2014/main" id="{ADC49159-5D3B-498F-B0BB-B678EB138F6B}"/>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13B42342-3866-4C6F-A4C7-58A0D20CF887}"/>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35–50. Studio quality. Persona: expressive drama teacher. Emotion: poised, playful. A rich contralto with precise diction and a broad, controlled pitch range. Give a phrase a clear intention, then pause to invite a response. Intimate classroom projection, warm humor, and gentle, specific feedback.</a:t>
            </a:r>
          </a:p>
        </p:txBody>
      </p:sp>
      <p:sp>
        <p:nvSpPr>
          <p:cNvPr id="14" name="pace">
            <a:extLst xmlns:a="http://schemas.openxmlformats.org/drawingml/2006/main">
              <a:ext uri="{FF2B5EF4-FFF2-40B4-BE49-F238E27FC236}">
                <a16:creationId xmlns:a16="http://schemas.microsoft.com/office/drawing/2014/main" id="{1CE81E05-4C4F-40E8-BA41-D54CE51EF488}"/>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120–140 words/min  (acting target)</a:t>
            </a:r>
          </a:p>
        </p:txBody>
      </p:sp>
      <p:sp>
        <p:nvSpPr>
          <p:cNvPr id="15" name="movement-label">
            <a:extLst xmlns:a="http://schemas.openxmlformats.org/drawingml/2006/main">
              <a:ext uri="{FF2B5EF4-FFF2-40B4-BE49-F238E27FC236}">
                <a16:creationId xmlns:a16="http://schemas.microsoft.com/office/drawing/2014/main" id="{F25FE665-40A4-475A-BFAD-8F41D17DB61E}"/>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0CEC65EE-9BC2-4855-8B81-9522B2FD94CC}"/>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a tall, balanced posture and small stage turns. Gesture from open palms.</a:t>
            </a:r>
          </a:p>
        </p:txBody>
      </p:sp>
      <p:sp>
        <p:nvSpPr>
          <p:cNvPr id="17" name="movement-1">
            <a:extLst xmlns:a="http://schemas.openxmlformats.org/drawingml/2006/main">
              <a:ext uri="{FF2B5EF4-FFF2-40B4-BE49-F238E27FC236}">
                <a16:creationId xmlns:a16="http://schemas.microsoft.com/office/drawing/2014/main" id="{65DAB3EE-34D4-4144-8F0B-6AABA0BE1876}"/>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Snake hair follows her attention in a slow wave, then rests while another person speaks.</a:t>
            </a:r>
          </a:p>
        </p:txBody>
      </p:sp>
      <p:sp>
        <p:nvSpPr>
          <p:cNvPr id="18" name="movement-2">
            <a:extLst xmlns:a="http://schemas.openxmlformats.org/drawingml/2006/main">
              <a:ext uri="{FF2B5EF4-FFF2-40B4-BE49-F238E27FC236}">
                <a16:creationId xmlns:a16="http://schemas.microsoft.com/office/drawing/2014/main" id="{E9F2272D-FA7E-4041-9D66-BB543DC4AE92}"/>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Invite eye contact as a choice. Her gaze has no harmful effect and triggers no surprise visual.</a:t>
            </a:r>
          </a:p>
        </p:txBody>
      </p:sp>
      <p:sp>
        <p:nvSpPr>
          <p:cNvPr id="19" name="dialogue-label">
            <a:extLst xmlns:a="http://schemas.openxmlformats.org/drawingml/2006/main">
              <a:ext uri="{FF2B5EF4-FFF2-40B4-BE49-F238E27FC236}">
                <a16:creationId xmlns:a16="http://schemas.microsoft.com/office/drawing/2014/main" id="{D39301F6-B469-4D97-ADFA-0D373D2A8D51}"/>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841155E-0BCD-4CCD-B009-EC5F27B57ED6}"/>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CFBF7B59-DD4D-48E5-BCF5-9F2EBB718DDE}"/>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In drama, a small change can tell a different story.</a:t>
            </a:r>
          </a:p>
        </p:txBody>
      </p:sp>
      <p:sp>
        <p:nvSpPr>
          <p:cNvPr id="22" name="line-role-1">
            <a:extLst xmlns:a="http://schemas.openxmlformats.org/drawingml/2006/main">
              <a:ext uri="{FF2B5EF4-FFF2-40B4-BE49-F238E27FC236}">
                <a16:creationId xmlns:a16="http://schemas.microsoft.com/office/drawing/2014/main" id="{C09AFD4C-EBAC-431F-8F16-BD8F30EDC0D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6D5C21BF-ABF7-4D71-B12C-BC99B5CE0457}"/>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would rather watch first.</a:t>
            </a:r>
          </a:p>
        </p:txBody>
      </p:sp>
      <p:sp>
        <p:nvSpPr>
          <p:cNvPr id="24" name="line-role-2">
            <a:extLst xmlns:a="http://schemas.openxmlformats.org/drawingml/2006/main">
              <a:ext uri="{FF2B5EF4-FFF2-40B4-BE49-F238E27FC236}">
                <a16:creationId xmlns:a16="http://schemas.microsoft.com/office/drawing/2014/main" id="{0B50DBF2-97EC-4190-8494-E2CD37F2ED86}"/>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CD122377-32EC-4924-8D1E-373188387A47}"/>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may observe and tell us what you notice.</a:t>
            </a:r>
          </a:p>
        </p:txBody>
      </p:sp>
      <p:sp>
        <p:nvSpPr>
          <p:cNvPr id="26" name="line-role-3">
            <a:extLst xmlns:a="http://schemas.openxmlformats.org/drawingml/2006/main">
              <a:ext uri="{FF2B5EF4-FFF2-40B4-BE49-F238E27FC236}">
                <a16:creationId xmlns:a16="http://schemas.microsoft.com/office/drawing/2014/main" id="{F42EEC17-81BF-43C2-9AB9-FD0544A2C4D6}"/>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797FF51B-51EA-4203-BCD7-EC5D7DF749B8}"/>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will say “You came back” with relief, then surprise. What changed in my voice?</a:t>
            </a:r>
          </a:p>
        </p:txBody>
      </p:sp>
      <p:sp>
        <p:nvSpPr>
          <p:cNvPr id="28" name="">
            <a:extLst xmlns:a="http://schemas.openxmlformats.org/drawingml/2006/main">
              <a:ext uri="{FF2B5EF4-FFF2-40B4-BE49-F238E27FC236}">
                <a16:creationId xmlns:a16="http://schemas.microsoft.com/office/drawing/2014/main" id="{DB61146B-6E16-41E1-810A-5962A038E1B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73E7F47B-0EB8-4CDD-83C2-3233EBB9489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538FCEE1-FA99-41CF-B51D-67293556212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14</a:t>
            </a:r>
          </a:p>
        </p:txBody>
      </p:sp>
    </p:spTree>
    <p:extLst>
      <p:ext uri="{BB962C8B-B14F-4D97-AF65-F5344CB8AC3E}">
        <p14:creationId xmlns:p14="http://schemas.microsoft.com/office/powerpoint/2010/main" val="930460854"/>
      </p:ext>
    </p:extLst>
  </p:cSld>
</p:sld>
</file>

<file path=ppt/slides/slide15.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CA0DEEEF-D0FF-4E53-B043-029B8A2AEEB8}"/>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12</a:t>
            </a:r>
          </a:p>
        </p:txBody>
      </p:sp>
      <p:sp>
        <p:nvSpPr>
          <p:cNvPr id="3" name="title">
            <a:extLst xmlns:a="http://schemas.openxmlformats.org/drawingml/2006/main">
              <a:ext uri="{FF2B5EF4-FFF2-40B4-BE49-F238E27FC236}">
                <a16:creationId xmlns:a16="http://schemas.microsoft.com/office/drawing/2014/main" id="{84E24E89-7803-49FE-9126-205CCE51320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TECHNOLOGY</a:t>
            </a:r>
          </a:p>
        </p:txBody>
      </p:sp>
      <p:sp>
        <p:nvSpPr>
          <p:cNvPr id="4" name="subtitle">
            <a:extLst xmlns:a="http://schemas.openxmlformats.org/drawingml/2006/main">
              <a:ext uri="{FF2B5EF4-FFF2-40B4-BE49-F238E27FC236}">
                <a16:creationId xmlns:a16="http://schemas.microsoft.com/office/drawing/2014/main" id="{D93FF70B-7807-418B-B18F-0871486C59EB}"/>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friendly systems tinkerer</a:t>
            </a:r>
          </a:p>
        </p:txBody>
      </p:sp>
      <p:sp>
        <p:nvSpPr>
          <p:cNvPr id="5" name="">
            <a:extLst xmlns:a="http://schemas.openxmlformats.org/drawingml/2006/main">
              <a:ext uri="{FF2B5EF4-FFF2-40B4-BE49-F238E27FC236}">
                <a16:creationId xmlns:a16="http://schemas.microsoft.com/office/drawing/2014/main" id="{996AB970-D16F-4961-8B38-D64CD29A61ED}"/>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005AD22E-204A-4681-A856-0F71B82F6519}"/>
              </a:ext>
            </a:extLst>
          </p:cNvPr>
          <p:cNvPicPr>
            <a:picLocks xmlns:a="http://schemas.openxmlformats.org/drawingml/2006/main" noChangeAspect="1"/>
          </p:cNvPicPr>
          <p:nvPr/>
        </p:nvPicPr>
        <p:blipFill>
          <a:blip xmlns:r="http://schemas.openxmlformats.org/officeDocument/2006/relationships" xmlns:a="http://schemas.openxmlformats.org/drawingml/2006/main" r:embed="R0c57a54ac1dc4091"/>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2697C7ED-5D4B-4D80-A11B-9AB05F910846}"/>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MIMIC</a:t>
            </a:r>
          </a:p>
        </p:txBody>
      </p:sp>
      <p:sp>
        <p:nvSpPr>
          <p:cNvPr id="8" name="identity">
            <a:extLst xmlns:a="http://schemas.openxmlformats.org/drawingml/2006/main">
              <a:ext uri="{FF2B5EF4-FFF2-40B4-BE49-F238E27FC236}">
                <a16:creationId xmlns:a16="http://schemas.microsoft.com/office/drawing/2014/main" id="{E5AC222B-CB46-47CA-A4A9-3E98478185C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Non-binary  /  Rogue</a:t>
            </a:r>
          </a:p>
        </p:txBody>
      </p:sp>
      <p:sp>
        <p:nvSpPr>
          <p:cNvPr id="9" name="location">
            <a:extLst xmlns:a="http://schemas.openxmlformats.org/drawingml/2006/main">
              <a:ext uri="{FF2B5EF4-FFF2-40B4-BE49-F238E27FC236}">
                <a16:creationId xmlns:a16="http://schemas.microsoft.com/office/drawing/2014/main" id="{F2D84B4C-997F-42BE-AD42-22F2D41062A6}"/>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Mimic’s Lair</a:t>
            </a:r>
          </a:p>
        </p:txBody>
      </p:sp>
      <p:sp>
        <p:nvSpPr>
          <p:cNvPr id="10" name="hook-label">
            <a:extLst xmlns:a="http://schemas.openxmlformats.org/drawingml/2006/main">
              <a:ext uri="{FF2B5EF4-FFF2-40B4-BE49-F238E27FC236}">
                <a16:creationId xmlns:a16="http://schemas.microsoft.com/office/drawing/2014/main" id="{476A6852-BCEF-4912-8CA4-1025C139266D}"/>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CC3CEB1-ED0E-4491-BA42-2440BF4D984E}"/>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Move a practice cube, then demonstrate or describe Undo.</a:t>
            </a:r>
          </a:p>
        </p:txBody>
      </p:sp>
      <p:sp>
        <p:nvSpPr>
          <p:cNvPr id="12" name="voice-label">
            <a:extLst xmlns:a="http://schemas.openxmlformats.org/drawingml/2006/main">
              <a:ext uri="{FF2B5EF4-FFF2-40B4-BE49-F238E27FC236}">
                <a16:creationId xmlns:a16="http://schemas.microsoft.com/office/drawing/2014/main" id="{BB2BD6B4-CF90-458B-9CA3-CB799A99AC8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73EA5265-8313-4384-9C54-6D48063A4E62}"/>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Androgynous adult, 25–40, with a non-binary character identity. Studio quality. Persona: friendly systems tinkerer. Emotion: curious, practical. A clear middle register with a lightly textured timbre and precise articulation. Short, well-spaced instructions, lightly playful intonation, and patient troubleshooting. Choose the voice for character fit rather than a gender stereotype.</a:t>
            </a:r>
          </a:p>
        </p:txBody>
      </p:sp>
      <p:sp>
        <p:nvSpPr>
          <p:cNvPr id="14" name="pace">
            <a:extLst xmlns:a="http://schemas.openxmlformats.org/drawingml/2006/main">
              <a:ext uri="{FF2B5EF4-FFF2-40B4-BE49-F238E27FC236}">
                <a16:creationId xmlns:a16="http://schemas.microsoft.com/office/drawing/2014/main" id="{5D92B4AC-D6AE-43AD-9BB4-5D90278CF566}"/>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E58C2B34-0958-48DA-A7EF-C11BA3FAA55E}"/>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58ABAA16-5B42-4C33-9A2A-472DA7931078}"/>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Move on short, hinged legs with a firm planted base. Lid motion is a small jaw-like opening.</a:t>
            </a:r>
          </a:p>
        </p:txBody>
      </p:sp>
      <p:sp>
        <p:nvSpPr>
          <p:cNvPr id="17" name="movement-1">
            <a:extLst xmlns:a="http://schemas.openxmlformats.org/drawingml/2006/main">
              <a:ext uri="{FF2B5EF4-FFF2-40B4-BE49-F238E27FC236}">
                <a16:creationId xmlns:a16="http://schemas.microsoft.com/office/drawing/2014/main" id="{6C65EE56-DADA-4819-8915-E6425D4A8B51}"/>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the tongue as a stylus only on the teacher’s own device. Tools unfold slowly from the sides.</a:t>
            </a:r>
          </a:p>
        </p:txBody>
      </p:sp>
      <p:sp>
        <p:nvSpPr>
          <p:cNvPr id="18" name="movement-2">
            <a:extLst xmlns:a="http://schemas.openxmlformats.org/drawingml/2006/main">
              <a:ext uri="{FF2B5EF4-FFF2-40B4-BE49-F238E27FC236}">
                <a16:creationId xmlns:a16="http://schemas.microsoft.com/office/drawing/2014/main" id="{875E4B4C-3B56-4409-8BB5-C526D7308811}"/>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Close the lid gently after speech. Never disguise as a student’s controls or snap near hands.</a:t>
            </a:r>
          </a:p>
        </p:txBody>
      </p:sp>
      <p:sp>
        <p:nvSpPr>
          <p:cNvPr id="19" name="dialogue-label">
            <a:extLst xmlns:a="http://schemas.openxmlformats.org/drawingml/2006/main">
              <a:ext uri="{FF2B5EF4-FFF2-40B4-BE49-F238E27FC236}">
                <a16:creationId xmlns:a16="http://schemas.microsoft.com/office/drawing/2014/main" id="{0F24FF4E-B89B-46D3-A939-76E02518BD4D}"/>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8C04EB6F-6135-4AAD-AC0A-C29DC5C3CC52}"/>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27E09000-C28F-4194-831A-EECEF3042E61}"/>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Technology. My lid is open, and so is the help menu.</a:t>
            </a:r>
          </a:p>
        </p:txBody>
      </p:sp>
      <p:sp>
        <p:nvSpPr>
          <p:cNvPr id="22" name="line-role-1">
            <a:extLst xmlns:a="http://schemas.openxmlformats.org/drawingml/2006/main">
              <a:ext uri="{FF2B5EF4-FFF2-40B4-BE49-F238E27FC236}">
                <a16:creationId xmlns:a16="http://schemas.microsoft.com/office/drawing/2014/main" id="{C8D9AEAB-2B50-46FB-B5A6-321CA7BC977F}"/>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F88D2FEA-6054-4129-8CE8-D0772CD8106A}"/>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pressed the wrong button.</a:t>
            </a:r>
          </a:p>
        </p:txBody>
      </p:sp>
      <p:sp>
        <p:nvSpPr>
          <p:cNvPr id="24" name="line-role-2">
            <a:extLst xmlns:a="http://schemas.openxmlformats.org/drawingml/2006/main">
              <a:ext uri="{FF2B5EF4-FFF2-40B4-BE49-F238E27FC236}">
                <a16:creationId xmlns:a16="http://schemas.microsoft.com/office/drawing/2014/main" id="{C0EDD4FD-A2AD-4FA9-B26F-39A394F138B3}"/>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E641C8B9-A2CC-4BDE-B8D5-A8FB0884C370}"/>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That happens. Let us find the undo action together.</a:t>
            </a:r>
          </a:p>
        </p:txBody>
      </p:sp>
      <p:sp>
        <p:nvSpPr>
          <p:cNvPr id="26" name="line-role-3">
            <a:extLst xmlns:a="http://schemas.openxmlformats.org/drawingml/2006/main">
              <a:ext uri="{FF2B5EF4-FFF2-40B4-BE49-F238E27FC236}">
                <a16:creationId xmlns:a16="http://schemas.microsoft.com/office/drawing/2014/main" id="{B2A8B6CE-F3CC-4DDF-B15A-C6733A48BCCA}"/>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EF7750E9-FEBF-418B-8E37-112AFA2BD8E9}"/>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it on this practice cube. What changed, and how could you reverse it?</a:t>
            </a:r>
          </a:p>
        </p:txBody>
      </p:sp>
      <p:sp>
        <p:nvSpPr>
          <p:cNvPr id="28" name="">
            <a:extLst xmlns:a="http://schemas.openxmlformats.org/drawingml/2006/main">
              <a:ext uri="{FF2B5EF4-FFF2-40B4-BE49-F238E27FC236}">
                <a16:creationId xmlns:a16="http://schemas.microsoft.com/office/drawing/2014/main" id="{11D0A208-4451-44B0-9F2C-2804DDB218AB}"/>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85FDF3BF-3B14-48AA-B390-82CBD46EC28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001686EA-0CE5-413F-A95B-7CC01065C63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15</a:t>
            </a:r>
          </a:p>
        </p:txBody>
      </p:sp>
    </p:spTree>
    <p:extLst>
      <p:ext uri="{BB962C8B-B14F-4D97-AF65-F5344CB8AC3E}">
        <p14:creationId xmlns:p14="http://schemas.microsoft.com/office/powerpoint/2010/main" val="1316812027"/>
      </p:ext>
    </p:extLst>
  </p:cSld>
</p:sld>
</file>

<file path=ppt/slides/slide16.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8BC04489-D94B-4A2C-A95C-3825CEA0824D}"/>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13</a:t>
            </a:r>
          </a:p>
        </p:txBody>
      </p:sp>
      <p:sp>
        <p:nvSpPr>
          <p:cNvPr id="3" name="title">
            <a:extLst xmlns:a="http://schemas.openxmlformats.org/drawingml/2006/main">
              <a:ext uri="{FF2B5EF4-FFF2-40B4-BE49-F238E27FC236}">
                <a16:creationId xmlns:a16="http://schemas.microsoft.com/office/drawing/2014/main" id="{43E54147-7C66-4603-BF9C-96E4EE14530C}"/>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HEADMASTER</a:t>
            </a:r>
          </a:p>
        </p:txBody>
      </p:sp>
      <p:sp>
        <p:nvSpPr>
          <p:cNvPr id="4" name="subtitle">
            <a:extLst xmlns:a="http://schemas.openxmlformats.org/drawingml/2006/main">
              <a:ext uri="{FF2B5EF4-FFF2-40B4-BE49-F238E27FC236}">
                <a16:creationId xmlns:a16="http://schemas.microsoft.com/office/drawing/2014/main" id="{A3861E00-8CD1-41C8-9A0C-A377FE267F92}"/>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steady keeper of the school</a:t>
            </a:r>
          </a:p>
        </p:txBody>
      </p:sp>
      <p:sp>
        <p:nvSpPr>
          <p:cNvPr id="5" name="">
            <a:extLst xmlns:a="http://schemas.openxmlformats.org/drawingml/2006/main">
              <a:ext uri="{FF2B5EF4-FFF2-40B4-BE49-F238E27FC236}">
                <a16:creationId xmlns:a16="http://schemas.microsoft.com/office/drawing/2014/main" id="{AC6418D6-4AEB-4431-9977-022BA30B7D81}"/>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3E757C51-32AB-405B-B9F3-0742C07725EE}"/>
              </a:ext>
            </a:extLst>
          </p:cNvPr>
          <p:cNvPicPr>
            <a:picLocks xmlns:a="http://schemas.openxmlformats.org/drawingml/2006/main" noChangeAspect="1"/>
          </p:cNvPicPr>
          <p:nvPr/>
        </p:nvPicPr>
        <p:blipFill>
          <a:blip xmlns:r="http://schemas.openxmlformats.org/officeDocument/2006/relationships" xmlns:a="http://schemas.openxmlformats.org/drawingml/2006/main" r:embed="R120d0b3f774c4d99"/>
          <a:srcRect xmlns:a="http://schemas.openxmlformats.org/drawingml/2006/main" l="0" t="0" r="0" b="0"/>
          <a:stretch xmlns:a="http://schemas.openxmlformats.org/drawingml/2006/main"/>
        </p:blipFill>
        <p:spPr>
          <a:xfrm xmlns:a="http://schemas.openxmlformats.org/drawingml/2006/main">
            <a:off x="898525" y="2143125"/>
            <a:ext cx="2603500" cy="39052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4B983227-997C-4F68-A9B2-F394197D59EA}"/>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LICH</a:t>
            </a:r>
          </a:p>
        </p:txBody>
      </p:sp>
      <p:sp>
        <p:nvSpPr>
          <p:cNvPr id="8" name="identity">
            <a:extLst xmlns:a="http://schemas.openxmlformats.org/drawingml/2006/main">
              <a:ext uri="{FF2B5EF4-FFF2-40B4-BE49-F238E27FC236}">
                <a16:creationId xmlns:a16="http://schemas.microsoft.com/office/drawing/2014/main" id="{1943B538-7AB3-4D6D-93F0-74C07CE53ADF}"/>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Wizard</a:t>
            </a:r>
          </a:p>
        </p:txBody>
      </p:sp>
      <p:sp>
        <p:nvSpPr>
          <p:cNvPr id="9" name="location">
            <a:extLst xmlns:a="http://schemas.openxmlformats.org/drawingml/2006/main">
              <a:ext uri="{FF2B5EF4-FFF2-40B4-BE49-F238E27FC236}">
                <a16:creationId xmlns:a16="http://schemas.microsoft.com/office/drawing/2014/main" id="{79C19CFC-A89B-45F4-899A-ED58CECFE76D}"/>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Lich’s Tower</a:t>
            </a:r>
          </a:p>
        </p:txBody>
      </p:sp>
      <p:sp>
        <p:nvSpPr>
          <p:cNvPr id="10" name="hook-label">
            <a:extLst xmlns:a="http://schemas.openxmlformats.org/drawingml/2006/main">
              <a:ext uri="{FF2B5EF4-FFF2-40B4-BE49-F238E27FC236}">
                <a16:creationId xmlns:a16="http://schemas.microsoft.com/office/drawing/2014/main" id="{7421A977-E1E3-45FE-8033-14A480EA8A4E}"/>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878E9CB-72D9-49EF-9014-379F2B2A1C3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Choose one personal goal. Find Help and name a next step.</a:t>
            </a:r>
          </a:p>
        </p:txBody>
      </p:sp>
      <p:sp>
        <p:nvSpPr>
          <p:cNvPr id="12" name="voice-label">
            <a:extLst xmlns:a="http://schemas.openxmlformats.org/drawingml/2006/main">
              <a:ext uri="{FF2B5EF4-FFF2-40B4-BE49-F238E27FC236}">
                <a16:creationId xmlns:a16="http://schemas.microsoft.com/office/drawing/2014/main" id="{C66848B8-80B8-4299-851A-986547FAA525}"/>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E0603582-BFCE-4D2D-860D-02C554C7B148}"/>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65–80. Studio quality. Persona: wise, welcoming headmaster. Emotion: composed, kindly amused. A low, elegant mezzo with a fine dry grain and clear consonants. Deliberate pacing, gentle authority, and a small smile in moments of reassurance. Let silence make room for the listener rather than create suspense.</a:t>
            </a:r>
          </a:p>
        </p:txBody>
      </p:sp>
      <p:sp>
        <p:nvSpPr>
          <p:cNvPr id="14" name="pace">
            <a:extLst xmlns:a="http://schemas.openxmlformats.org/drawingml/2006/main">
              <a:ext uri="{FF2B5EF4-FFF2-40B4-BE49-F238E27FC236}">
                <a16:creationId xmlns:a16="http://schemas.microsoft.com/office/drawing/2014/main" id="{122BF7CA-1127-474C-B5AD-350536DE75F9}"/>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110–125 words/min  (acting target)</a:t>
            </a:r>
          </a:p>
        </p:txBody>
      </p:sp>
      <p:sp>
        <p:nvSpPr>
          <p:cNvPr id="15" name="movement-label">
            <a:extLst xmlns:a="http://schemas.openxmlformats.org/drawingml/2006/main">
              <a:ext uri="{FF2B5EF4-FFF2-40B4-BE49-F238E27FC236}">
                <a16:creationId xmlns:a16="http://schemas.microsoft.com/office/drawing/2014/main" id="{D11D4A64-E070-4046-AE59-46EF91EB822B}"/>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40676996-51DD-407C-8C4C-2223EB6DAD55}"/>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Take measured steps under the long coat. Keep the spine tall and shoulders soft.</a:t>
            </a:r>
          </a:p>
        </p:txBody>
      </p:sp>
      <p:sp>
        <p:nvSpPr>
          <p:cNvPr id="17" name="movement-1">
            <a:extLst xmlns:a="http://schemas.openxmlformats.org/drawingml/2006/main">
              <a:ext uri="{FF2B5EF4-FFF2-40B4-BE49-F238E27FC236}">
                <a16:creationId xmlns:a16="http://schemas.microsoft.com/office/drawing/2014/main" id="{801C15E6-3718-4C83-8837-280D19C65575}"/>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brass hand turns one ledger page, then rests. A small head tilt acknowledges a student.</a:t>
            </a:r>
          </a:p>
        </p:txBody>
      </p:sp>
      <p:sp>
        <p:nvSpPr>
          <p:cNvPr id="18" name="movement-2">
            <a:extLst xmlns:a="http://schemas.openxmlformats.org/drawingml/2006/main">
              <a:ext uri="{FF2B5EF4-FFF2-40B4-BE49-F238E27FC236}">
                <a16:creationId xmlns:a16="http://schemas.microsoft.com/office/drawing/2014/main" id="{D1FF4BFE-512C-4B5C-A192-A660556D102C}"/>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Meet a seated learner at a comfortable viewing angle. Spell effects remain still during speech.</a:t>
            </a:r>
          </a:p>
        </p:txBody>
      </p:sp>
      <p:sp>
        <p:nvSpPr>
          <p:cNvPr id="19" name="dialogue-label">
            <a:extLst xmlns:a="http://schemas.openxmlformats.org/drawingml/2006/main">
              <a:ext uri="{FF2B5EF4-FFF2-40B4-BE49-F238E27FC236}">
                <a16:creationId xmlns:a16="http://schemas.microsoft.com/office/drawing/2014/main" id="{AB3C0F20-5CF1-455E-89C5-9A160C022C27}"/>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971729CF-EA6B-474F-9B06-872A40C9F8AD}"/>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WELCOME</a:t>
            </a:r>
          </a:p>
        </p:txBody>
      </p:sp>
      <p:sp>
        <p:nvSpPr>
          <p:cNvPr id="21" name="line-0">
            <a:extLst xmlns:a="http://schemas.openxmlformats.org/drawingml/2006/main">
              <a:ext uri="{FF2B5EF4-FFF2-40B4-BE49-F238E27FC236}">
                <a16:creationId xmlns:a16="http://schemas.microsoft.com/office/drawing/2014/main" id="{1E3BD60B-2022-413F-8629-1F413EB5DF8F}"/>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VR High School. You belong here before you solve a single puzzle.</a:t>
            </a:r>
          </a:p>
        </p:txBody>
      </p:sp>
      <p:sp>
        <p:nvSpPr>
          <p:cNvPr id="22" name="line-role-1">
            <a:extLst xmlns:a="http://schemas.openxmlformats.org/drawingml/2006/main">
              <a:ext uri="{FF2B5EF4-FFF2-40B4-BE49-F238E27FC236}">
                <a16:creationId xmlns:a16="http://schemas.microsoft.com/office/drawing/2014/main" id="{8E351543-74A5-4E80-B4AD-AEC3858EDA08}"/>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EFA75A1-E020-4600-9CCC-D0DAE9A9B3C9}"/>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I get lost?</a:t>
            </a:r>
          </a:p>
        </p:txBody>
      </p:sp>
      <p:sp>
        <p:nvSpPr>
          <p:cNvPr id="24" name="line-role-2">
            <a:extLst xmlns:a="http://schemas.openxmlformats.org/drawingml/2006/main">
              <a:ext uri="{FF2B5EF4-FFF2-40B4-BE49-F238E27FC236}">
                <a16:creationId xmlns:a16="http://schemas.microsoft.com/office/drawing/2014/main" id="{691D8AA1-3D03-429D-AC6C-0BDDA5B8D54F}"/>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REASSURE</a:t>
            </a:r>
          </a:p>
        </p:txBody>
      </p:sp>
      <p:sp>
        <p:nvSpPr>
          <p:cNvPr id="25" name="line-2">
            <a:extLst xmlns:a="http://schemas.openxmlformats.org/drawingml/2006/main">
              <a:ext uri="{FF2B5EF4-FFF2-40B4-BE49-F238E27FC236}">
                <a16:creationId xmlns:a16="http://schemas.microsoft.com/office/drawing/2014/main" id="{59DEA2EB-0936-439A-B9D7-35A3B1C871D6}"/>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Help, or ask a teacher. We will take the next step with you.</a:t>
            </a:r>
          </a:p>
        </p:txBody>
      </p:sp>
      <p:sp>
        <p:nvSpPr>
          <p:cNvPr id="26" name="line-role-3">
            <a:extLst xmlns:a="http://schemas.openxmlformats.org/drawingml/2006/main">
              <a:ext uri="{FF2B5EF4-FFF2-40B4-BE49-F238E27FC236}">
                <a16:creationId xmlns:a16="http://schemas.microsoft.com/office/drawing/2014/main" id="{F4659295-1D9B-4093-BB48-44494A945E04}"/>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INVITE</a:t>
            </a:r>
          </a:p>
        </p:txBody>
      </p:sp>
      <p:sp>
        <p:nvSpPr>
          <p:cNvPr id="27" name="line-3">
            <a:extLst xmlns:a="http://schemas.openxmlformats.org/drawingml/2006/main">
              <a:ext uri="{FF2B5EF4-FFF2-40B4-BE49-F238E27FC236}">
                <a16:creationId xmlns:a16="http://schemas.microsoft.com/office/drawing/2014/main" id="{CF38C612-3C43-42C1-8A9D-EFF79D3DD5F7}"/>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Today, learn one control, meet one person, and leave with one question.</a:t>
            </a:r>
          </a:p>
        </p:txBody>
      </p:sp>
      <p:sp>
        <p:nvSpPr>
          <p:cNvPr id="28" name="">
            <a:extLst xmlns:a="http://schemas.openxmlformats.org/drawingml/2006/main">
              <a:ext uri="{FF2B5EF4-FFF2-40B4-BE49-F238E27FC236}">
                <a16:creationId xmlns:a16="http://schemas.microsoft.com/office/drawing/2014/main" id="{E77BF7BE-DA29-4007-86EF-CB013087FEBE}"/>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157756C0-DA6A-430D-98EC-06B5AAEF306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E26E8733-C3DA-4178-98CD-DC04D7C067BA}"/>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16</a:t>
            </a:r>
          </a:p>
        </p:txBody>
      </p:sp>
    </p:spTree>
    <p:extLst>
      <p:ext uri="{BB962C8B-B14F-4D97-AF65-F5344CB8AC3E}">
        <p14:creationId xmlns:p14="http://schemas.microsoft.com/office/powerpoint/2010/main" val="1341561965"/>
      </p:ext>
    </p:extLst>
  </p:cSld>
</p:sld>
</file>

<file path=ppt/slides/slide17.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256DC71-2F0C-4D4E-87B7-ACBE2FB5002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01</a:t>
            </a:r>
          </a:p>
        </p:txBody>
      </p:sp>
      <p:sp>
        <p:nvSpPr>
          <p:cNvPr id="3" name="title">
            <a:extLst xmlns:a="http://schemas.openxmlformats.org/drawingml/2006/main">
              <a:ext uri="{FF2B5EF4-FFF2-40B4-BE49-F238E27FC236}">
                <a16:creationId xmlns:a16="http://schemas.microsoft.com/office/drawing/2014/main" id="{46AC2818-BD81-4021-99D7-8FA84CC5ED10}"/>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FIRST DAY: CAMPUS PASSPORT</a:t>
            </a:r>
          </a:p>
        </p:txBody>
      </p:sp>
      <p:sp>
        <p:nvSpPr>
          <p:cNvPr id="4" name="subtitle">
            <a:extLst xmlns:a="http://schemas.openxmlformats.org/drawingml/2006/main">
              <a:ext uri="{FF2B5EF4-FFF2-40B4-BE49-F238E27FC236}">
                <a16:creationId xmlns:a16="http://schemas.microsoft.com/office/drawing/2014/main" id="{5F80ED4D-8609-495E-B8C7-579FD14BB36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Freshman orientation  /  50-minute pilot  /  No subject knowledge assumed</a:t>
            </a:r>
          </a:p>
        </p:txBody>
      </p:sp>
      <p:sp>
        <p:nvSpPr>
          <p:cNvPr id="5" name="">
            <a:extLst xmlns:a="http://schemas.openxmlformats.org/drawingml/2006/main">
              <a:ext uri="{FF2B5EF4-FFF2-40B4-BE49-F238E27FC236}">
                <a16:creationId xmlns:a16="http://schemas.microsoft.com/office/drawing/2014/main" id="{43F895AD-D370-4044-B59B-66C58D76C4F4}"/>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goals-title">
            <a:extLst xmlns:a="http://schemas.openxmlformats.org/drawingml/2006/main">
              <a:ext uri="{FF2B5EF4-FFF2-40B4-BE49-F238E27FC236}">
                <a16:creationId xmlns:a16="http://schemas.microsoft.com/office/drawing/2014/main" id="{F1583540-3D06-44F2-A010-CCCFA1FF5D96}"/>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Learning goals</a:t>
            </a:r>
          </a:p>
        </p:txBody>
      </p:sp>
      <p:sp>
        <p:nvSpPr>
          <p:cNvPr id="7" name="goals">
            <a:extLst xmlns:a="http://schemas.openxmlformats.org/drawingml/2006/main">
              <a:ext uri="{FF2B5EF4-FFF2-40B4-BE49-F238E27FC236}">
                <a16:creationId xmlns:a16="http://schemas.microsoft.com/office/drawing/2014/main" id="{6C87E967-6615-4542-B42F-3834CD426600}"/>
              </a:ext>
            </a:extLst>
          </p:cNvPr>
          <p:cNvSpPr>
            <a:spLocks xmlns:a="http://schemas.openxmlformats.org/drawingml/2006/main" noGrp="1"/>
          </p:cNvSpPr>
          <p:nvPr/>
        </p:nvSpPr>
        <p:spPr>
          <a:xfrm xmlns:a="http://schemas.openxmlformats.org/drawingml/2006/main">
            <a:off x="533400" y="2895600"/>
            <a:ext cx="66675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By the end, each student can:</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Find Pause and Help, then undo a practice action.</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Support one choice with something they observed.</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Contribute a sentence, image or spoken idea and name one question for tomorrow.</a:t>
            </a:r>
          </a:p>
        </p:txBody>
      </p:sp>
      <p:sp>
        <p:nvSpPr>
          <p:cNvPr id="8" name="task-title">
            <a:extLst xmlns:a="http://schemas.openxmlformats.org/drawingml/2006/main">
              <a:ext uri="{FF2B5EF4-FFF2-40B4-BE49-F238E27FC236}">
                <a16:creationId xmlns:a16="http://schemas.microsoft.com/office/drawing/2014/main" id="{191E3FCA-FE3F-4D4C-84A9-0CBC802BD61C}"/>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The passport</a:t>
            </a:r>
          </a:p>
        </p:txBody>
      </p:sp>
      <p:sp>
        <p:nvSpPr>
          <p:cNvPr id="9" name="task">
            <a:extLst xmlns:a="http://schemas.openxmlformats.org/drawingml/2006/main">
              <a:ext uri="{FF2B5EF4-FFF2-40B4-BE49-F238E27FC236}">
                <a16:creationId xmlns:a16="http://schemas.microsoft.com/office/drawing/2014/main" id="{61E22EEF-A52E-44D8-8D94-A46C799D4B62}"/>
              </a:ext>
            </a:extLst>
          </p:cNvPr>
          <p:cNvSpPr>
            <a:spLocks xmlns:a="http://schemas.openxmlformats.org/drawingml/2006/main" noGrp="1"/>
          </p:cNvSpPr>
          <p:nvPr/>
        </p:nvSpPr>
        <p:spPr>
          <a:xfrm xmlns:a="http://schemas.openxmlformats.org/drawingml/2006/main">
            <a:off x="7905750" y="2895600"/>
            <a:ext cx="66675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Students build a small welcome passport:</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 route to the tower with a reason.</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 revised arrival sentence.</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An emblem made from color and shape.</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Partners discuss choices. Each student keeps their own contribution.</a:t>
            </a:r>
          </a:p>
        </p:txBody>
      </p:sp>
      <p:sp>
        <p:nvSpPr>
          <p:cNvPr id="10" name="prep-title">
            <a:extLst xmlns:a="http://schemas.openxmlformats.org/drawingml/2006/main">
              <a:ext uri="{FF2B5EF4-FFF2-40B4-BE49-F238E27FC236}">
                <a16:creationId xmlns:a16="http://schemas.microsoft.com/office/drawing/2014/main" id="{C5C8791A-76BA-4E80-B44C-B556672D7B2D}"/>
              </a:ext>
            </a:extLst>
          </p:cNvPr>
          <p:cNvSpPr>
            <a:spLocks xmlns:a="http://schemas.openxmlformats.org/drawingml/2006/main" noGrp="1"/>
          </p:cNvSpPr>
          <p:nvPr/>
        </p:nvSpPr>
        <p:spPr>
          <a:xfrm xmlns:a="http://schemas.openxmlformats.org/drawingml/2006/main">
            <a:off x="533400" y="694372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Teacher preparation</a:t>
            </a:r>
          </a:p>
        </p:txBody>
      </p:sp>
      <p:sp>
        <p:nvSpPr>
          <p:cNvPr id="11" name="prep">
            <a:extLst xmlns:a="http://schemas.openxmlformats.org/drawingml/2006/main">
              <a:ext uri="{FF2B5EF4-FFF2-40B4-BE49-F238E27FC236}">
                <a16:creationId xmlns:a16="http://schemas.microsoft.com/office/drawing/2014/main" id="{B063D2EB-BFB6-4B50-BFC2-83C6C6DF409A}"/>
              </a:ext>
            </a:extLst>
          </p:cNvPr>
          <p:cNvSpPr>
            <a:spLocks xmlns:a="http://schemas.openxmlformats.org/drawingml/2006/main" noGrp="1"/>
          </p:cNvSpPr>
          <p:nvPr/>
        </p:nvSpPr>
        <p:spPr>
          <a:xfrm xmlns:a="http://schemas.openxmlformats.org/drawingml/2006/main">
            <a:off x="533400" y="7524750"/>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Prepare a simple campus map, sentence tiles, shape/color tiles and a passport sheet. Test the controls, captions and seated option. A room facilitator supports headset use.</a:t>
            </a:r>
          </a:p>
        </p:txBody>
      </p:sp>
      <p:sp>
        <p:nvSpPr>
          <p:cNvPr id="12" name="choice-title">
            <a:extLst xmlns:a="http://schemas.openxmlformats.org/drawingml/2006/main">
              <a:ext uri="{FF2B5EF4-FFF2-40B4-BE49-F238E27FC236}">
                <a16:creationId xmlns:a16="http://schemas.microsoft.com/office/drawing/2014/main" id="{FF80831D-8C86-4D59-817E-900B59319B16}"/>
              </a:ext>
            </a:extLst>
          </p:cNvPr>
          <p:cNvSpPr>
            <a:spLocks xmlns:a="http://schemas.openxmlformats.org/drawingml/2006/main" noGrp="1"/>
          </p:cNvSpPr>
          <p:nvPr/>
        </p:nvSpPr>
        <p:spPr>
          <a:xfrm xmlns:a="http://schemas.openxmlformats.org/drawingml/2006/main">
            <a:off x="7905750" y="694372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Participation choices</a:t>
            </a:r>
          </a:p>
        </p:txBody>
      </p:sp>
      <p:sp>
        <p:nvSpPr>
          <p:cNvPr id="13" name="choice">
            <a:extLst xmlns:a="http://schemas.openxmlformats.org/drawingml/2006/main">
              <a:ext uri="{FF2B5EF4-FFF2-40B4-BE49-F238E27FC236}">
                <a16:creationId xmlns:a16="http://schemas.microsoft.com/office/drawing/2014/main" id="{2085B62A-30F1-4E4F-AF5A-E8A62FD956DA}"/>
              </a:ext>
            </a:extLst>
          </p:cNvPr>
          <p:cNvSpPr>
            <a:spLocks xmlns:a="http://schemas.openxmlformats.org/drawingml/2006/main" noGrp="1"/>
          </p:cNvSpPr>
          <p:nvPr/>
        </p:nvSpPr>
        <p:spPr>
          <a:xfrm xmlns:a="http://schemas.openxmlformats.org/drawingml/2006/main">
            <a:off x="7905750" y="7524750"/>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Offer seated VR, a screen version, pointing or speaking. Students may pass on introductions. Any student may pause or leave VR and continue the same task off-screen.</a:t>
            </a:r>
          </a:p>
        </p:txBody>
      </p:sp>
      <p:sp>
        <p:nvSpPr>
          <p:cNvPr id="14" name="">
            <a:extLst xmlns:a="http://schemas.openxmlformats.org/drawingml/2006/main">
              <a:ext uri="{FF2B5EF4-FFF2-40B4-BE49-F238E27FC236}">
                <a16:creationId xmlns:a16="http://schemas.microsoft.com/office/drawing/2014/main" id="{2A9B369A-9B42-4C50-867C-80DCCCA9098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5B5D3048-C0E8-4DBC-A21F-D29E3ED9BBF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22309994-7ECB-4D21-9962-E3B91DF980CF}"/>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17</a:t>
            </a:r>
          </a:p>
        </p:txBody>
      </p:sp>
    </p:spTree>
    <p:extLst>
      <p:ext uri="{BB962C8B-B14F-4D97-AF65-F5344CB8AC3E}">
        <p14:creationId xmlns:p14="http://schemas.microsoft.com/office/powerpoint/2010/main" val="1889184481"/>
      </p:ext>
    </p:extLst>
  </p:cSld>
</p:sld>
</file>

<file path=ppt/slides/slide18.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F365019C-8906-432B-AC11-760008453514}"/>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02</a:t>
            </a:r>
          </a:p>
        </p:txBody>
      </p:sp>
      <p:sp>
        <p:nvSpPr>
          <p:cNvPr id="3" name="title">
            <a:extLst xmlns:a="http://schemas.openxmlformats.org/drawingml/2006/main">
              <a:ext uri="{FF2B5EF4-FFF2-40B4-BE49-F238E27FC236}">
                <a16:creationId xmlns:a16="http://schemas.microsoft.com/office/drawing/2014/main" id="{689434DB-92AD-4D47-B2AE-5E3D619EEED1}"/>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FIRST-DAY RUNNING ORDER</a:t>
            </a:r>
          </a:p>
        </p:txBody>
      </p:sp>
      <p:sp>
        <p:nvSpPr>
          <p:cNvPr id="4" name="subtitle">
            <a:extLst xmlns:a="http://schemas.openxmlformats.org/drawingml/2006/main">
              <a:ext uri="{FF2B5EF4-FFF2-40B4-BE49-F238E27FC236}">
                <a16:creationId xmlns:a16="http://schemas.microsoft.com/office/drawing/2014/main" id="{49B4FF27-7C7C-4DC0-B74B-C7824C10EBC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50 minutes total  /  Two short VR blocks with a break between them</a:t>
            </a:r>
          </a:p>
        </p:txBody>
      </p:sp>
      <p:sp>
        <p:nvSpPr>
          <p:cNvPr id="5" name="">
            <a:extLst xmlns:a="http://schemas.openxmlformats.org/drawingml/2006/main">
              <a:ext uri="{FF2B5EF4-FFF2-40B4-BE49-F238E27FC236}">
                <a16:creationId xmlns:a16="http://schemas.microsoft.com/office/drawing/2014/main" id="{06522654-FE10-44E4-9BF5-5654C866AB5A}"/>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time-0">
            <a:extLst xmlns:a="http://schemas.openxmlformats.org/drawingml/2006/main">
              <a:ext uri="{FF2B5EF4-FFF2-40B4-BE49-F238E27FC236}">
                <a16:creationId xmlns:a16="http://schemas.microsoft.com/office/drawing/2014/main" id="{2C708237-EE72-4B14-905B-9B0CAD39A858}"/>
              </a:ext>
            </a:extLst>
          </p:cNvPr>
          <p:cNvSpPr>
            <a:spLocks xmlns:a="http://schemas.openxmlformats.org/drawingml/2006/main" noGrp="1"/>
          </p:cNvSpPr>
          <p:nvPr/>
        </p:nvSpPr>
        <p:spPr>
          <a:xfrm xmlns:a="http://schemas.openxmlformats.org/drawingml/2006/main">
            <a:off x="533400" y="22669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00–05</a:t>
            </a:r>
          </a:p>
        </p:txBody>
      </p:sp>
      <p:sp>
        <p:nvSpPr>
          <p:cNvPr id="7" name="phase-0">
            <a:extLst xmlns:a="http://schemas.openxmlformats.org/drawingml/2006/main">
              <a:ext uri="{FF2B5EF4-FFF2-40B4-BE49-F238E27FC236}">
                <a16:creationId xmlns:a16="http://schemas.microsoft.com/office/drawing/2014/main" id="{BE1D3824-1DA3-44E6-AC22-1464411EE85F}"/>
              </a:ext>
            </a:extLst>
          </p:cNvPr>
          <p:cNvSpPr>
            <a:spLocks xmlns:a="http://schemas.openxmlformats.org/drawingml/2006/main" noGrp="1"/>
          </p:cNvSpPr>
          <p:nvPr/>
        </p:nvSpPr>
        <p:spPr>
          <a:xfrm xmlns:a="http://schemas.openxmlformats.org/drawingml/2006/main">
            <a:off x="2333625" y="2266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Welcome and choices</a:t>
            </a:r>
          </a:p>
        </p:txBody>
      </p:sp>
      <p:sp>
        <p:nvSpPr>
          <p:cNvPr id="8" name="owner-0">
            <a:extLst xmlns:a="http://schemas.openxmlformats.org/drawingml/2006/main">
              <a:ext uri="{FF2B5EF4-FFF2-40B4-BE49-F238E27FC236}">
                <a16:creationId xmlns:a16="http://schemas.microsoft.com/office/drawing/2014/main" id="{19D30810-DA23-4B16-966A-4DE1FF334C5F}"/>
              </a:ext>
            </a:extLst>
          </p:cNvPr>
          <p:cNvSpPr>
            <a:spLocks xmlns:a="http://schemas.openxmlformats.org/drawingml/2006/main" noGrp="1"/>
          </p:cNvSpPr>
          <p:nvPr/>
        </p:nvSpPr>
        <p:spPr>
          <a:xfrm xmlns:a="http://schemas.openxmlformats.org/drawingml/2006/main">
            <a:off x="2333625" y="26479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Room facilitator + Lich</a:t>
            </a:r>
          </a:p>
        </p:txBody>
      </p:sp>
      <p:sp>
        <p:nvSpPr>
          <p:cNvPr id="9" name="action-0">
            <a:extLst xmlns:a="http://schemas.openxmlformats.org/drawingml/2006/main">
              <a:ext uri="{FF2B5EF4-FFF2-40B4-BE49-F238E27FC236}">
                <a16:creationId xmlns:a16="http://schemas.microsoft.com/office/drawing/2014/main" id="{DCF2FD2F-3D05-43D0-8DED-D660A041FAC5}"/>
              </a:ext>
            </a:extLst>
          </p:cNvPr>
          <p:cNvSpPr>
            <a:spLocks xmlns:a="http://schemas.openxmlformats.org/drawingml/2006/main" noGrp="1"/>
          </p:cNvSpPr>
          <p:nvPr/>
        </p:nvSpPr>
        <p:spPr>
          <a:xfrm xmlns:a="http://schemas.openxmlformats.org/drawingml/2006/main">
            <a:off x="7905750" y="22669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Introduce the goal, comfortable setup and the right to pause.</a:t>
            </a:r>
          </a:p>
        </p:txBody>
      </p:sp>
      <p:sp>
        <p:nvSpPr>
          <p:cNvPr id="10" name="time-1">
            <a:extLst xmlns:a="http://schemas.openxmlformats.org/drawingml/2006/main">
              <a:ext uri="{FF2B5EF4-FFF2-40B4-BE49-F238E27FC236}">
                <a16:creationId xmlns:a16="http://schemas.microsoft.com/office/drawing/2014/main" id="{2C262D43-31C4-473F-A5FA-76781E0DFFF0}"/>
              </a:ext>
            </a:extLst>
          </p:cNvPr>
          <p:cNvSpPr>
            <a:spLocks xmlns:a="http://schemas.openxmlformats.org/drawingml/2006/main" noGrp="1"/>
          </p:cNvSpPr>
          <p:nvPr/>
        </p:nvSpPr>
        <p:spPr>
          <a:xfrm xmlns:a="http://schemas.openxmlformats.org/drawingml/2006/main">
            <a:off x="533400" y="32004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05–13</a:t>
            </a:r>
          </a:p>
        </p:txBody>
      </p:sp>
      <p:sp>
        <p:nvSpPr>
          <p:cNvPr id="11" name="phase-1">
            <a:extLst xmlns:a="http://schemas.openxmlformats.org/drawingml/2006/main">
              <a:ext uri="{FF2B5EF4-FFF2-40B4-BE49-F238E27FC236}">
                <a16:creationId xmlns:a16="http://schemas.microsoft.com/office/drawing/2014/main" id="{FBCB68BA-D022-43B1-AC19-E41C3D612316}"/>
              </a:ext>
            </a:extLst>
          </p:cNvPr>
          <p:cNvSpPr>
            <a:spLocks xmlns:a="http://schemas.openxmlformats.org/drawingml/2006/main" noGrp="1"/>
          </p:cNvSpPr>
          <p:nvPr/>
        </p:nvSpPr>
        <p:spPr>
          <a:xfrm xmlns:a="http://schemas.openxmlformats.org/drawingml/2006/main">
            <a:off x="2333625" y="32004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Controls rehearsal</a:t>
            </a:r>
          </a:p>
        </p:txBody>
      </p:sp>
      <p:sp>
        <p:nvSpPr>
          <p:cNvPr id="12" name="owner-1">
            <a:extLst xmlns:a="http://schemas.openxmlformats.org/drawingml/2006/main">
              <a:ext uri="{FF2B5EF4-FFF2-40B4-BE49-F238E27FC236}">
                <a16:creationId xmlns:a16="http://schemas.microsoft.com/office/drawing/2014/main" id="{53CB9CD1-7116-439B-B897-B098894DBEB8}"/>
              </a:ext>
            </a:extLst>
          </p:cNvPr>
          <p:cNvSpPr>
            <a:spLocks xmlns:a="http://schemas.openxmlformats.org/drawingml/2006/main" noGrp="1"/>
          </p:cNvSpPr>
          <p:nvPr/>
        </p:nvSpPr>
        <p:spPr>
          <a:xfrm xmlns:a="http://schemas.openxmlformats.org/drawingml/2006/main">
            <a:off x="2333625" y="35814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Lich + Mimic</a:t>
            </a:r>
          </a:p>
        </p:txBody>
      </p:sp>
      <p:sp>
        <p:nvSpPr>
          <p:cNvPr id="13" name="action-1">
            <a:extLst xmlns:a="http://schemas.openxmlformats.org/drawingml/2006/main">
              <a:ext uri="{FF2B5EF4-FFF2-40B4-BE49-F238E27FC236}">
                <a16:creationId xmlns:a16="http://schemas.microsoft.com/office/drawing/2014/main" id="{9F62190B-C2EA-4E1D-8536-EAB229F74EA0}"/>
              </a:ext>
            </a:extLst>
          </p:cNvPr>
          <p:cNvSpPr>
            <a:spLocks xmlns:a="http://schemas.openxmlformats.org/drawingml/2006/main" noGrp="1"/>
          </p:cNvSpPr>
          <p:nvPr/>
        </p:nvSpPr>
        <p:spPr>
          <a:xfrm xmlns:a="http://schemas.openxmlformats.org/drawingml/2006/main">
            <a:off x="7905750" y="32004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VR block A. Find Help and Pause. Move one cube, then undo.</a:t>
            </a:r>
          </a:p>
        </p:txBody>
      </p:sp>
      <p:sp>
        <p:nvSpPr>
          <p:cNvPr id="14" name="time-2">
            <a:extLst xmlns:a="http://schemas.openxmlformats.org/drawingml/2006/main">
              <a:ext uri="{FF2B5EF4-FFF2-40B4-BE49-F238E27FC236}">
                <a16:creationId xmlns:a16="http://schemas.microsoft.com/office/drawing/2014/main" id="{829EF237-693F-491D-BAF2-363FA5D49CF9}"/>
              </a:ext>
            </a:extLst>
          </p:cNvPr>
          <p:cNvSpPr>
            <a:spLocks xmlns:a="http://schemas.openxmlformats.org/drawingml/2006/main" noGrp="1"/>
          </p:cNvSpPr>
          <p:nvPr/>
        </p:nvSpPr>
        <p:spPr>
          <a:xfrm xmlns:a="http://schemas.openxmlformats.org/drawingml/2006/main">
            <a:off x="533400" y="41338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13–18</a:t>
            </a:r>
          </a:p>
        </p:txBody>
      </p:sp>
      <p:sp>
        <p:nvSpPr>
          <p:cNvPr id="15" name="phase-2">
            <a:extLst xmlns:a="http://schemas.openxmlformats.org/drawingml/2006/main">
              <a:ext uri="{FF2B5EF4-FFF2-40B4-BE49-F238E27FC236}">
                <a16:creationId xmlns:a16="http://schemas.microsoft.com/office/drawing/2014/main" id="{B4D9B637-2DA3-4A34-8CDC-F7E3292D24B8}"/>
              </a:ext>
            </a:extLst>
          </p:cNvPr>
          <p:cNvSpPr>
            <a:spLocks xmlns:a="http://schemas.openxmlformats.org/drawingml/2006/main" noGrp="1"/>
          </p:cNvSpPr>
          <p:nvPr/>
        </p:nvSpPr>
        <p:spPr>
          <a:xfrm xmlns:a="http://schemas.openxmlformats.org/drawingml/2006/main">
            <a:off x="2333625" y="41338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Break and reset</a:t>
            </a:r>
          </a:p>
        </p:txBody>
      </p:sp>
      <p:sp>
        <p:nvSpPr>
          <p:cNvPr id="16" name="owner-2">
            <a:extLst xmlns:a="http://schemas.openxmlformats.org/drawingml/2006/main">
              <a:ext uri="{FF2B5EF4-FFF2-40B4-BE49-F238E27FC236}">
                <a16:creationId xmlns:a16="http://schemas.microsoft.com/office/drawing/2014/main" id="{E498EA57-176D-4DEF-845E-FDC249B80F33}"/>
              </a:ext>
            </a:extLst>
          </p:cNvPr>
          <p:cNvSpPr>
            <a:spLocks xmlns:a="http://schemas.openxmlformats.org/drawingml/2006/main" noGrp="1"/>
          </p:cNvSpPr>
          <p:nvPr/>
        </p:nvSpPr>
        <p:spPr>
          <a:xfrm xmlns:a="http://schemas.openxmlformats.org/drawingml/2006/main">
            <a:off x="2333625" y="4514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Room facilitator + Spider</a:t>
            </a:r>
          </a:p>
        </p:txBody>
      </p:sp>
      <p:sp>
        <p:nvSpPr>
          <p:cNvPr id="17" name="action-2">
            <a:extLst xmlns:a="http://schemas.openxmlformats.org/drawingml/2006/main">
              <a:ext uri="{FF2B5EF4-FFF2-40B4-BE49-F238E27FC236}">
                <a16:creationId xmlns:a16="http://schemas.microsoft.com/office/drawing/2014/main" id="{E41CE16B-6B14-4AA7-B559-9698106438E4}"/>
              </a:ext>
            </a:extLst>
          </p:cNvPr>
          <p:cNvSpPr>
            <a:spLocks xmlns:a="http://schemas.openxmlformats.org/drawingml/2006/main" noGrp="1"/>
          </p:cNvSpPr>
          <p:nvPr/>
        </p:nvSpPr>
        <p:spPr>
          <a:xfrm xmlns:a="http://schemas.openxmlformats.org/drawingml/2006/main">
            <a:off x="7905750" y="41338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Offer rest, a quiet check-in and a screen option.</a:t>
            </a:r>
          </a:p>
        </p:txBody>
      </p:sp>
      <p:sp>
        <p:nvSpPr>
          <p:cNvPr id="18" name="time-3">
            <a:extLst xmlns:a="http://schemas.openxmlformats.org/drawingml/2006/main">
              <a:ext uri="{FF2B5EF4-FFF2-40B4-BE49-F238E27FC236}">
                <a16:creationId xmlns:a16="http://schemas.microsoft.com/office/drawing/2014/main" id="{EBAD63D9-99E8-44F7-A04D-491E748CEB47}"/>
              </a:ext>
            </a:extLst>
          </p:cNvPr>
          <p:cNvSpPr>
            <a:spLocks xmlns:a="http://schemas.openxmlformats.org/drawingml/2006/main" noGrp="1"/>
          </p:cNvSpPr>
          <p:nvPr/>
        </p:nvSpPr>
        <p:spPr>
          <a:xfrm xmlns:a="http://schemas.openxmlformats.org/drawingml/2006/main">
            <a:off x="533400" y="50673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18–34</a:t>
            </a:r>
          </a:p>
        </p:txBody>
      </p:sp>
      <p:sp>
        <p:nvSpPr>
          <p:cNvPr id="19" name="phase-3">
            <a:extLst xmlns:a="http://schemas.openxmlformats.org/drawingml/2006/main">
              <a:ext uri="{FF2B5EF4-FFF2-40B4-BE49-F238E27FC236}">
                <a16:creationId xmlns:a16="http://schemas.microsoft.com/office/drawing/2014/main" id="{BA53CD5B-C639-4197-87BB-BFFCE95802F4}"/>
              </a:ext>
            </a:extLst>
          </p:cNvPr>
          <p:cNvSpPr>
            <a:spLocks xmlns:a="http://schemas.openxmlformats.org/drawingml/2006/main" noGrp="1"/>
          </p:cNvSpPr>
          <p:nvPr/>
        </p:nvSpPr>
        <p:spPr>
          <a:xfrm xmlns:a="http://schemas.openxmlformats.org/drawingml/2006/main">
            <a:off x="2333625" y="50673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Passport stations</a:t>
            </a:r>
          </a:p>
        </p:txBody>
      </p:sp>
      <p:sp>
        <p:nvSpPr>
          <p:cNvPr id="20" name="owner-3">
            <a:extLst xmlns:a="http://schemas.openxmlformats.org/drawingml/2006/main">
              <a:ext uri="{FF2B5EF4-FFF2-40B4-BE49-F238E27FC236}">
                <a16:creationId xmlns:a16="http://schemas.microsoft.com/office/drawing/2014/main" id="{CF06A5D3-86D5-45B6-BC0B-7AD87F68CC08}"/>
              </a:ext>
            </a:extLst>
          </p:cNvPr>
          <p:cNvSpPr>
            <a:spLocks xmlns:a="http://schemas.openxmlformats.org/drawingml/2006/main" noGrp="1"/>
          </p:cNvSpPr>
          <p:nvPr/>
        </p:nvSpPr>
        <p:spPr>
          <a:xfrm xmlns:a="http://schemas.openxmlformats.org/drawingml/2006/main">
            <a:off x="2333625" y="5448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Ettin + Beholder + Oobleck</a:t>
            </a:r>
          </a:p>
        </p:txBody>
      </p:sp>
      <p:sp>
        <p:nvSpPr>
          <p:cNvPr id="21" name="action-3">
            <a:extLst xmlns:a="http://schemas.openxmlformats.org/drawingml/2006/main">
              <a:ext uri="{FF2B5EF4-FFF2-40B4-BE49-F238E27FC236}">
                <a16:creationId xmlns:a16="http://schemas.microsoft.com/office/drawing/2014/main" id="{58828008-62E8-484C-96A1-EBF1C02BE3CA}"/>
              </a:ext>
            </a:extLst>
          </p:cNvPr>
          <p:cNvSpPr>
            <a:spLocks xmlns:a="http://schemas.openxmlformats.org/drawingml/2006/main" noGrp="1"/>
          </p:cNvSpPr>
          <p:nvPr/>
        </p:nvSpPr>
        <p:spPr>
          <a:xfrm xmlns:a="http://schemas.openxmlformats.org/drawingml/2006/main">
            <a:off x="7905750" y="50673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VR block B. Three 4-minute stations, plus 4 minutes for transitions.</a:t>
            </a:r>
          </a:p>
        </p:txBody>
      </p:sp>
      <p:sp>
        <p:nvSpPr>
          <p:cNvPr id="22" name="time-4">
            <a:extLst xmlns:a="http://schemas.openxmlformats.org/drawingml/2006/main">
              <a:ext uri="{FF2B5EF4-FFF2-40B4-BE49-F238E27FC236}">
                <a16:creationId xmlns:a16="http://schemas.microsoft.com/office/drawing/2014/main" id="{60D649DB-B9A8-4C1D-99E4-E484D7160611}"/>
              </a:ext>
            </a:extLst>
          </p:cNvPr>
          <p:cNvSpPr>
            <a:spLocks xmlns:a="http://schemas.openxmlformats.org/drawingml/2006/main" noGrp="1"/>
          </p:cNvSpPr>
          <p:nvPr/>
        </p:nvSpPr>
        <p:spPr>
          <a:xfrm xmlns:a="http://schemas.openxmlformats.org/drawingml/2006/main">
            <a:off x="533400" y="6000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34–42</a:t>
            </a:r>
          </a:p>
        </p:txBody>
      </p:sp>
      <p:sp>
        <p:nvSpPr>
          <p:cNvPr id="23" name="phase-4">
            <a:extLst xmlns:a="http://schemas.openxmlformats.org/drawingml/2006/main">
              <a:ext uri="{FF2B5EF4-FFF2-40B4-BE49-F238E27FC236}">
                <a16:creationId xmlns:a16="http://schemas.microsoft.com/office/drawing/2014/main" id="{0EE6DE2D-9A5F-4892-8ADD-3198A9E1C38D}"/>
              </a:ext>
            </a:extLst>
          </p:cNvPr>
          <p:cNvSpPr>
            <a:spLocks xmlns:a="http://schemas.openxmlformats.org/drawingml/2006/main" noGrp="1"/>
          </p:cNvSpPr>
          <p:nvPr/>
        </p:nvSpPr>
        <p:spPr>
          <a:xfrm xmlns:a="http://schemas.openxmlformats.org/drawingml/2006/main">
            <a:off x="2333625" y="60007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Partner sharing</a:t>
            </a:r>
          </a:p>
        </p:txBody>
      </p:sp>
      <p:sp>
        <p:nvSpPr>
          <p:cNvPr id="24" name="owner-4">
            <a:extLst xmlns:a="http://schemas.openxmlformats.org/drawingml/2006/main">
              <a:ext uri="{FF2B5EF4-FFF2-40B4-BE49-F238E27FC236}">
                <a16:creationId xmlns:a16="http://schemas.microsoft.com/office/drawing/2014/main" id="{925C138B-72A9-492D-BF12-C08FD48C170B}"/>
              </a:ext>
            </a:extLst>
          </p:cNvPr>
          <p:cNvSpPr>
            <a:spLocks xmlns:a="http://schemas.openxmlformats.org/drawingml/2006/main" noGrp="1"/>
          </p:cNvSpPr>
          <p:nvPr/>
        </p:nvSpPr>
        <p:spPr>
          <a:xfrm xmlns:a="http://schemas.openxmlformats.org/drawingml/2006/main">
            <a:off x="2333625" y="63817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Classroom facilitator</a:t>
            </a:r>
          </a:p>
        </p:txBody>
      </p:sp>
      <p:sp>
        <p:nvSpPr>
          <p:cNvPr id="25" name="action-4">
            <a:extLst xmlns:a="http://schemas.openxmlformats.org/drawingml/2006/main">
              <a:ext uri="{FF2B5EF4-FFF2-40B4-BE49-F238E27FC236}">
                <a16:creationId xmlns:a16="http://schemas.microsoft.com/office/drawing/2014/main" id="{26452FDE-3BAA-434C-ABB2-EA7FA01EBDB3}"/>
              </a:ext>
            </a:extLst>
          </p:cNvPr>
          <p:cNvSpPr>
            <a:spLocks xmlns:a="http://schemas.openxmlformats.org/drawingml/2006/main" noGrp="1"/>
          </p:cNvSpPr>
          <p:nvPr/>
        </p:nvSpPr>
        <p:spPr>
          <a:xfrm xmlns:a="http://schemas.openxmlformats.org/drawingml/2006/main">
            <a:off x="7905750" y="60007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Explain one choice. Partners take turns or contribute in writing.</a:t>
            </a:r>
          </a:p>
        </p:txBody>
      </p:sp>
      <p:sp>
        <p:nvSpPr>
          <p:cNvPr id="26" name="time-5">
            <a:extLst xmlns:a="http://schemas.openxmlformats.org/drawingml/2006/main">
              <a:ext uri="{FF2B5EF4-FFF2-40B4-BE49-F238E27FC236}">
                <a16:creationId xmlns:a16="http://schemas.microsoft.com/office/drawing/2014/main" id="{39A84F9B-280E-46B5-831D-630EB4E444FB}"/>
              </a:ext>
            </a:extLst>
          </p:cNvPr>
          <p:cNvSpPr>
            <a:spLocks xmlns:a="http://schemas.openxmlformats.org/drawingml/2006/main" noGrp="1"/>
          </p:cNvSpPr>
          <p:nvPr/>
        </p:nvSpPr>
        <p:spPr>
          <a:xfrm xmlns:a="http://schemas.openxmlformats.org/drawingml/2006/main">
            <a:off x="533400" y="69342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42–48</a:t>
            </a:r>
          </a:p>
        </p:txBody>
      </p:sp>
      <p:sp>
        <p:nvSpPr>
          <p:cNvPr id="27" name="phase-5">
            <a:extLst xmlns:a="http://schemas.openxmlformats.org/drawingml/2006/main">
              <a:ext uri="{FF2B5EF4-FFF2-40B4-BE49-F238E27FC236}">
                <a16:creationId xmlns:a16="http://schemas.microsoft.com/office/drawing/2014/main" id="{D00E103C-29A7-46AE-871C-EF313347497E}"/>
              </a:ext>
            </a:extLst>
          </p:cNvPr>
          <p:cNvSpPr>
            <a:spLocks xmlns:a="http://schemas.openxmlformats.org/drawingml/2006/main" noGrp="1"/>
          </p:cNvSpPr>
          <p:nvPr/>
        </p:nvSpPr>
        <p:spPr>
          <a:xfrm xmlns:a="http://schemas.openxmlformats.org/drawingml/2006/main">
            <a:off x="2333625" y="69342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Exit check</a:t>
            </a:r>
          </a:p>
        </p:txBody>
      </p:sp>
      <p:sp>
        <p:nvSpPr>
          <p:cNvPr id="28" name="owner-5">
            <a:extLst xmlns:a="http://schemas.openxmlformats.org/drawingml/2006/main">
              <a:ext uri="{FF2B5EF4-FFF2-40B4-BE49-F238E27FC236}">
                <a16:creationId xmlns:a16="http://schemas.microsoft.com/office/drawing/2014/main" id="{67B871A7-7B4B-4DAF-8939-29F8B59EAF88}"/>
              </a:ext>
            </a:extLst>
          </p:cNvPr>
          <p:cNvSpPr>
            <a:spLocks xmlns:a="http://schemas.openxmlformats.org/drawingml/2006/main" noGrp="1"/>
          </p:cNvSpPr>
          <p:nvPr/>
        </p:nvSpPr>
        <p:spPr>
          <a:xfrm xmlns:a="http://schemas.openxmlformats.org/drawingml/2006/main">
            <a:off x="2333625" y="73152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Mimic + Lich</a:t>
            </a:r>
          </a:p>
        </p:txBody>
      </p:sp>
      <p:sp>
        <p:nvSpPr>
          <p:cNvPr id="29" name="action-5">
            <a:extLst xmlns:a="http://schemas.openxmlformats.org/drawingml/2006/main">
              <a:ext uri="{FF2B5EF4-FFF2-40B4-BE49-F238E27FC236}">
                <a16:creationId xmlns:a16="http://schemas.microsoft.com/office/drawing/2014/main" id="{F6ED166C-70DF-4FE8-BAD2-A0846082C60C}"/>
              </a:ext>
            </a:extLst>
          </p:cNvPr>
          <p:cNvSpPr>
            <a:spLocks xmlns:a="http://schemas.openxmlformats.org/drawingml/2006/main" noGrp="1"/>
          </p:cNvSpPr>
          <p:nvPr/>
        </p:nvSpPr>
        <p:spPr>
          <a:xfrm xmlns:a="http://schemas.openxmlformats.org/drawingml/2006/main">
            <a:off x="7905750" y="69342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Describe the controls, show one evidence-based choice and ask a question.</a:t>
            </a:r>
          </a:p>
        </p:txBody>
      </p:sp>
      <p:sp>
        <p:nvSpPr>
          <p:cNvPr id="30" name="time-6">
            <a:extLst xmlns:a="http://schemas.openxmlformats.org/drawingml/2006/main">
              <a:ext uri="{FF2B5EF4-FFF2-40B4-BE49-F238E27FC236}">
                <a16:creationId xmlns:a16="http://schemas.microsoft.com/office/drawing/2014/main" id="{F7336A4F-D4AF-4BB3-B6C8-E26005F2DA31}"/>
              </a:ext>
            </a:extLst>
          </p:cNvPr>
          <p:cNvSpPr>
            <a:spLocks xmlns:a="http://schemas.openxmlformats.org/drawingml/2006/main" noGrp="1"/>
          </p:cNvSpPr>
          <p:nvPr/>
        </p:nvSpPr>
        <p:spPr>
          <a:xfrm xmlns:a="http://schemas.openxmlformats.org/drawingml/2006/main">
            <a:off x="533400" y="78676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48–50</a:t>
            </a:r>
          </a:p>
        </p:txBody>
      </p:sp>
      <p:sp>
        <p:nvSpPr>
          <p:cNvPr id="31" name="phase-6">
            <a:extLst xmlns:a="http://schemas.openxmlformats.org/drawingml/2006/main">
              <a:ext uri="{FF2B5EF4-FFF2-40B4-BE49-F238E27FC236}">
                <a16:creationId xmlns:a16="http://schemas.microsoft.com/office/drawing/2014/main" id="{E921A571-62CC-4D8A-A961-92301DA4335D}"/>
              </a:ext>
            </a:extLst>
          </p:cNvPr>
          <p:cNvSpPr>
            <a:spLocks xmlns:a="http://schemas.openxmlformats.org/drawingml/2006/main" noGrp="1"/>
          </p:cNvSpPr>
          <p:nvPr/>
        </p:nvSpPr>
        <p:spPr>
          <a:xfrm xmlns:a="http://schemas.openxmlformats.org/drawingml/2006/main">
            <a:off x="2333625" y="78676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Closing</a:t>
            </a:r>
          </a:p>
        </p:txBody>
      </p:sp>
      <p:sp>
        <p:nvSpPr>
          <p:cNvPr id="32" name="owner-6">
            <a:extLst xmlns:a="http://schemas.openxmlformats.org/drawingml/2006/main">
              <a:ext uri="{FF2B5EF4-FFF2-40B4-BE49-F238E27FC236}">
                <a16:creationId xmlns:a16="http://schemas.microsoft.com/office/drawing/2014/main" id="{C2FFB9C5-77CE-4EA4-9C55-E7CAD4E5D841}"/>
              </a:ext>
            </a:extLst>
          </p:cNvPr>
          <p:cNvSpPr>
            <a:spLocks xmlns:a="http://schemas.openxmlformats.org/drawingml/2006/main" noGrp="1"/>
          </p:cNvSpPr>
          <p:nvPr/>
        </p:nvSpPr>
        <p:spPr>
          <a:xfrm xmlns:a="http://schemas.openxmlformats.org/drawingml/2006/main">
            <a:off x="2333625" y="82486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Lich</a:t>
            </a:r>
          </a:p>
        </p:txBody>
      </p:sp>
      <p:sp>
        <p:nvSpPr>
          <p:cNvPr id="33" name="action-6">
            <a:extLst xmlns:a="http://schemas.openxmlformats.org/drawingml/2006/main">
              <a:ext uri="{FF2B5EF4-FFF2-40B4-BE49-F238E27FC236}">
                <a16:creationId xmlns:a16="http://schemas.microsoft.com/office/drawing/2014/main" id="{C57B0651-2C7E-41EC-A545-4432DBBA9B98}"/>
              </a:ext>
            </a:extLst>
          </p:cNvPr>
          <p:cNvSpPr>
            <a:spLocks xmlns:a="http://schemas.openxmlformats.org/drawingml/2006/main" noGrp="1"/>
          </p:cNvSpPr>
          <p:nvPr/>
        </p:nvSpPr>
        <p:spPr>
          <a:xfrm xmlns:a="http://schemas.openxmlformats.org/drawingml/2006/main">
            <a:off x="7905750" y="78676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Celebrate one discovery. Preview the next class and how to get help.</a:t>
            </a:r>
          </a:p>
        </p:txBody>
      </p:sp>
      <p:sp>
        <p:nvSpPr>
          <p:cNvPr id="34" name="">
            <a:extLst xmlns:a="http://schemas.openxmlformats.org/drawingml/2006/main">
              <a:ext uri="{FF2B5EF4-FFF2-40B4-BE49-F238E27FC236}">
                <a16:creationId xmlns:a16="http://schemas.microsoft.com/office/drawing/2014/main" id="{515CABC4-880C-4EBB-B4E5-55C70B85754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35" name="footer">
            <a:extLst xmlns:a="http://schemas.openxmlformats.org/drawingml/2006/main">
              <a:ext uri="{FF2B5EF4-FFF2-40B4-BE49-F238E27FC236}">
                <a16:creationId xmlns:a16="http://schemas.microsoft.com/office/drawing/2014/main" id="{52CF1A6C-D6BD-4FD5-AB8B-8484FF846E0B}"/>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6" name="folio">
            <a:extLst xmlns:a="http://schemas.openxmlformats.org/drawingml/2006/main">
              <a:ext uri="{FF2B5EF4-FFF2-40B4-BE49-F238E27FC236}">
                <a16:creationId xmlns:a16="http://schemas.microsoft.com/office/drawing/2014/main" id="{B29D1B11-B52F-41BB-92F2-7A2E0A8A104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18</a:t>
            </a:r>
          </a:p>
        </p:txBody>
      </p:sp>
    </p:spTree>
    <p:extLst>
      <p:ext uri="{BB962C8B-B14F-4D97-AF65-F5344CB8AC3E}">
        <p14:creationId xmlns:p14="http://schemas.microsoft.com/office/powerpoint/2010/main" val="884569879"/>
      </p:ext>
    </p:extLst>
  </p:cSld>
</p:sld>
</file>

<file path=ppt/slides/slide19.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447C3C24-34A9-4734-B0F8-D9F8A0B5843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03</a:t>
            </a:r>
          </a:p>
        </p:txBody>
      </p:sp>
      <p:sp>
        <p:nvSpPr>
          <p:cNvPr id="3" name="title">
            <a:extLst xmlns:a="http://schemas.openxmlformats.org/drawingml/2006/main">
              <a:ext uri="{FF2B5EF4-FFF2-40B4-BE49-F238E27FC236}">
                <a16:creationId xmlns:a16="http://schemas.microsoft.com/office/drawing/2014/main" id="{4A657744-C3C5-4ACB-8A80-FBF782E84B4B}"/>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PASSPORT STATIONS</a:t>
            </a:r>
          </a:p>
        </p:txBody>
      </p:sp>
      <p:sp>
        <p:nvSpPr>
          <p:cNvPr id="4" name="subtitle">
            <a:extLst xmlns:a="http://schemas.openxmlformats.org/drawingml/2006/main">
              <a:ext uri="{FF2B5EF4-FFF2-40B4-BE49-F238E27FC236}">
                <a16:creationId xmlns:a16="http://schemas.microsoft.com/office/drawing/2014/main" id="{F9C04C88-846D-4FAE-84E2-F09553667E8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Three low-stakes tasks  /  Four minutes each  /  One visible contribution per student</a:t>
            </a:r>
          </a:p>
        </p:txBody>
      </p:sp>
      <p:sp>
        <p:nvSpPr>
          <p:cNvPr id="5" name="">
            <a:extLst xmlns:a="http://schemas.openxmlformats.org/drawingml/2006/main">
              <a:ext uri="{FF2B5EF4-FFF2-40B4-BE49-F238E27FC236}">
                <a16:creationId xmlns:a16="http://schemas.microsoft.com/office/drawing/2014/main" id="{91CD2B75-B9B5-4374-ABDC-124DCE168E5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station-title-0">
            <a:extLst xmlns:a="http://schemas.openxmlformats.org/drawingml/2006/main">
              <a:ext uri="{FF2B5EF4-FFF2-40B4-BE49-F238E27FC236}">
                <a16:creationId xmlns:a16="http://schemas.microsoft.com/office/drawing/2014/main" id="{8C6ABD7D-D11F-47E2-AA05-AFBF95572D8F}"/>
              </a:ext>
            </a:extLst>
          </p:cNvPr>
          <p:cNvSpPr>
            <a:spLocks xmlns:a="http://schemas.openxmlformats.org/drawingml/2006/main" noGrp="1"/>
          </p:cNvSpPr>
          <p:nvPr/>
        </p:nvSpPr>
        <p:spPr>
          <a:xfrm xmlns:a="http://schemas.openxmlformats.org/drawingml/2006/main">
            <a:off x="53340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GEOGRAPHY</a:t>
            </a:r>
          </a:p>
        </p:txBody>
      </p:sp>
      <p:sp>
        <p:nvSpPr>
          <p:cNvPr id="7" name="station-teacher-0">
            <a:extLst xmlns:a="http://schemas.openxmlformats.org/drawingml/2006/main">
              <a:ext uri="{FF2B5EF4-FFF2-40B4-BE49-F238E27FC236}">
                <a16:creationId xmlns:a16="http://schemas.microsoft.com/office/drawing/2014/main" id="{742536B4-8416-44B8-A4DD-384F935394B7}"/>
              </a:ext>
            </a:extLst>
          </p:cNvPr>
          <p:cNvSpPr>
            <a:spLocks xmlns:a="http://schemas.openxmlformats.org/drawingml/2006/main" noGrp="1"/>
          </p:cNvSpPr>
          <p:nvPr/>
        </p:nvSpPr>
        <p:spPr>
          <a:xfrm xmlns:a="http://schemas.openxmlformats.org/drawingml/2006/main">
            <a:off x="53340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Ettin</a:t>
            </a:r>
          </a:p>
        </p:txBody>
      </p:sp>
      <p:sp>
        <p:nvSpPr>
          <p:cNvPr id="8" name="station-task-0">
            <a:extLst xmlns:a="http://schemas.openxmlformats.org/drawingml/2006/main">
              <a:ext uri="{FF2B5EF4-FFF2-40B4-BE49-F238E27FC236}">
                <a16:creationId xmlns:a16="http://schemas.microsoft.com/office/drawing/2014/main" id="{2D00699D-AA4E-4465-A078-8D3E774EB113}"/>
              </a:ext>
            </a:extLst>
          </p:cNvPr>
          <p:cNvSpPr>
            <a:spLocks xmlns:a="http://schemas.openxmlformats.org/drawingml/2006/main" noGrp="1"/>
          </p:cNvSpPr>
          <p:nvPr/>
        </p:nvSpPr>
        <p:spPr>
          <a:xfrm xmlns:a="http://schemas.openxmlformats.org/drawingml/2006/main">
            <a:off x="53340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choose one of two routes to the tower. One is shorter and steeper. The other is longer and flatter.</a:t>
            </a:r>
          </a:p>
        </p:txBody>
      </p:sp>
      <p:sp>
        <p:nvSpPr>
          <p:cNvPr id="9" name="question-label-0">
            <a:extLst xmlns:a="http://schemas.openxmlformats.org/drawingml/2006/main">
              <a:ext uri="{FF2B5EF4-FFF2-40B4-BE49-F238E27FC236}">
                <a16:creationId xmlns:a16="http://schemas.microsoft.com/office/drawing/2014/main" id="{080B443F-90C7-48EF-836D-48677D8B0EBD}"/>
              </a:ext>
            </a:extLst>
          </p:cNvPr>
          <p:cNvSpPr>
            <a:spLocks xmlns:a="http://schemas.openxmlformats.org/drawingml/2006/main" noGrp="1"/>
          </p:cNvSpPr>
          <p:nvPr/>
        </p:nvSpPr>
        <p:spPr>
          <a:xfrm xmlns:a="http://schemas.openxmlformats.org/drawingml/2006/main">
            <a:off x="53340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10" name="station-question-0">
            <a:extLst xmlns:a="http://schemas.openxmlformats.org/drawingml/2006/main">
              <a:ext uri="{FF2B5EF4-FFF2-40B4-BE49-F238E27FC236}">
                <a16:creationId xmlns:a16="http://schemas.microsoft.com/office/drawing/2014/main" id="{464DDA11-5C94-4484-9F9C-854DE844189D}"/>
              </a:ext>
            </a:extLst>
          </p:cNvPr>
          <p:cNvSpPr>
            <a:spLocks xmlns:a="http://schemas.openxmlformats.org/drawingml/2006/main" noGrp="1"/>
          </p:cNvSpPr>
          <p:nvPr/>
        </p:nvSpPr>
        <p:spPr>
          <a:xfrm xmlns:a="http://schemas.openxmlformats.org/drawingml/2006/main">
            <a:off x="53340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“Which route fits our traveler, and what on the map supports your choice?”</a:t>
            </a:r>
          </a:p>
        </p:txBody>
      </p:sp>
      <p:sp>
        <p:nvSpPr>
          <p:cNvPr id="11" name="check-label-0">
            <a:extLst xmlns:a="http://schemas.openxmlformats.org/drawingml/2006/main">
              <a:ext uri="{FF2B5EF4-FFF2-40B4-BE49-F238E27FC236}">
                <a16:creationId xmlns:a16="http://schemas.microsoft.com/office/drawing/2014/main" id="{A51FD508-38C8-4070-B829-60C788E44C5A}"/>
              </a:ext>
            </a:extLst>
          </p:cNvPr>
          <p:cNvSpPr>
            <a:spLocks xmlns:a="http://schemas.openxmlformats.org/drawingml/2006/main" noGrp="1"/>
          </p:cNvSpPr>
          <p:nvPr/>
        </p:nvSpPr>
        <p:spPr>
          <a:xfrm xmlns:a="http://schemas.openxmlformats.org/drawingml/2006/main">
            <a:off x="53340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12" name="station-evidence-0">
            <a:extLst xmlns:a="http://schemas.openxmlformats.org/drawingml/2006/main">
              <a:ext uri="{FF2B5EF4-FFF2-40B4-BE49-F238E27FC236}">
                <a16:creationId xmlns:a16="http://schemas.microsoft.com/office/drawing/2014/main" id="{2B1BB244-4D06-40D9-91DF-0B21239F3672}"/>
              </a:ext>
            </a:extLst>
          </p:cNvPr>
          <p:cNvSpPr>
            <a:spLocks xmlns:a="http://schemas.openxmlformats.org/drawingml/2006/main" noGrp="1"/>
          </p:cNvSpPr>
          <p:nvPr/>
        </p:nvSpPr>
        <p:spPr>
          <a:xfrm xmlns:a="http://schemas.openxmlformats.org/drawingml/2006/main">
            <a:off x="53340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Mark a route and give one reason from the map.</a:t>
            </a:r>
          </a:p>
          <a:p xmlns:a="http://schemas.openxmlformats.org/drawingml/2006/main">
            <a:pPr>
              <a:buNone/>
              <a:defRPr sz="1875" b="0">
                <a:solidFill>
                  <a:srgbClr val="F8EAD0"/>
                </a:solidFill>
                <a:latin typeface="Barlow Condensed"/>
                <a:ea typeface="Barlow Condensed"/>
                <a:cs typeface="Barlow Condensed"/>
              </a:defRPr>
            </a:pPr>
            <a:r>
              <a:rPr sz="1875"/>
              <a:t>Support: offer labeled route cards, pointing or speech.</a:t>
            </a:r>
          </a:p>
        </p:txBody>
      </p:sp>
      <p:sp>
        <p:nvSpPr>
          <p:cNvPr id="13" name="station-title-1">
            <a:extLst xmlns:a="http://schemas.openxmlformats.org/drawingml/2006/main">
              <a:ext uri="{FF2B5EF4-FFF2-40B4-BE49-F238E27FC236}">
                <a16:creationId xmlns:a16="http://schemas.microsoft.com/office/drawing/2014/main" id="{37BCD23C-BC4F-4C66-BE9E-F13759557920}"/>
              </a:ext>
            </a:extLst>
          </p:cNvPr>
          <p:cNvSpPr>
            <a:spLocks xmlns:a="http://schemas.openxmlformats.org/drawingml/2006/main" noGrp="1"/>
          </p:cNvSpPr>
          <p:nvPr/>
        </p:nvSpPr>
        <p:spPr>
          <a:xfrm xmlns:a="http://schemas.openxmlformats.org/drawingml/2006/main">
            <a:off x="546735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ENGLISH</a:t>
            </a:r>
          </a:p>
        </p:txBody>
      </p:sp>
      <p:sp>
        <p:nvSpPr>
          <p:cNvPr id="14" name="station-teacher-1">
            <a:extLst xmlns:a="http://schemas.openxmlformats.org/drawingml/2006/main">
              <a:ext uri="{FF2B5EF4-FFF2-40B4-BE49-F238E27FC236}">
                <a16:creationId xmlns:a16="http://schemas.microsoft.com/office/drawing/2014/main" id="{136BB8B9-7A00-4BA9-A84E-B95B7878ED10}"/>
              </a:ext>
            </a:extLst>
          </p:cNvPr>
          <p:cNvSpPr>
            <a:spLocks xmlns:a="http://schemas.openxmlformats.org/drawingml/2006/main" noGrp="1"/>
          </p:cNvSpPr>
          <p:nvPr/>
        </p:nvSpPr>
        <p:spPr>
          <a:xfrm xmlns:a="http://schemas.openxmlformats.org/drawingml/2006/main">
            <a:off x="546735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Beholder</a:t>
            </a:r>
          </a:p>
        </p:txBody>
      </p:sp>
      <p:sp>
        <p:nvSpPr>
          <p:cNvPr id="15" name="station-task-1">
            <a:extLst xmlns:a="http://schemas.openxmlformats.org/drawingml/2006/main">
              <a:ext uri="{FF2B5EF4-FFF2-40B4-BE49-F238E27FC236}">
                <a16:creationId xmlns:a16="http://schemas.microsoft.com/office/drawing/2014/main" id="{720B7F03-0821-490A-87EE-F6B1260C76A6}"/>
              </a:ext>
            </a:extLst>
          </p:cNvPr>
          <p:cNvSpPr>
            <a:spLocks xmlns:a="http://schemas.openxmlformats.org/drawingml/2006/main" noGrp="1"/>
          </p:cNvSpPr>
          <p:nvPr/>
        </p:nvSpPr>
        <p:spPr>
          <a:xfrm xmlns:a="http://schemas.openxmlformats.org/drawingml/2006/main">
            <a:off x="546735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revise “I went into the school.” They change one word to show how the arrival felt.</a:t>
            </a:r>
          </a:p>
        </p:txBody>
      </p:sp>
      <p:sp>
        <p:nvSpPr>
          <p:cNvPr id="16" name="question-label-1">
            <a:extLst xmlns:a="http://schemas.openxmlformats.org/drawingml/2006/main">
              <a:ext uri="{FF2B5EF4-FFF2-40B4-BE49-F238E27FC236}">
                <a16:creationId xmlns:a16="http://schemas.microsoft.com/office/drawing/2014/main" id="{D323FC23-ED3F-494A-B564-72825872FE82}"/>
              </a:ext>
            </a:extLst>
          </p:cNvPr>
          <p:cNvSpPr>
            <a:spLocks xmlns:a="http://schemas.openxmlformats.org/drawingml/2006/main" noGrp="1"/>
          </p:cNvSpPr>
          <p:nvPr/>
        </p:nvSpPr>
        <p:spPr>
          <a:xfrm xmlns:a="http://schemas.openxmlformats.org/drawingml/2006/main">
            <a:off x="546735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17" name="station-question-1">
            <a:extLst xmlns:a="http://schemas.openxmlformats.org/drawingml/2006/main">
              <a:ext uri="{FF2B5EF4-FFF2-40B4-BE49-F238E27FC236}">
                <a16:creationId xmlns:a16="http://schemas.microsoft.com/office/drawing/2014/main" id="{B275619B-0246-4D21-B5AB-A8F64FEE116F}"/>
              </a:ext>
            </a:extLst>
          </p:cNvPr>
          <p:cNvSpPr>
            <a:spLocks xmlns:a="http://schemas.openxmlformats.org/drawingml/2006/main" noGrp="1"/>
          </p:cNvSpPr>
          <p:nvPr/>
        </p:nvSpPr>
        <p:spPr>
          <a:xfrm xmlns:a="http://schemas.openxmlformats.org/drawingml/2006/main">
            <a:off x="546735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“Which word carries your meaning, and what does it help the reader imagine?”</a:t>
            </a:r>
          </a:p>
        </p:txBody>
      </p:sp>
      <p:sp>
        <p:nvSpPr>
          <p:cNvPr id="18" name="check-label-1">
            <a:extLst xmlns:a="http://schemas.openxmlformats.org/drawingml/2006/main">
              <a:ext uri="{FF2B5EF4-FFF2-40B4-BE49-F238E27FC236}">
                <a16:creationId xmlns:a16="http://schemas.microsoft.com/office/drawing/2014/main" id="{B4EDF3C2-CF11-44A8-9E8C-A9BF65103291}"/>
              </a:ext>
            </a:extLst>
          </p:cNvPr>
          <p:cNvSpPr>
            <a:spLocks xmlns:a="http://schemas.openxmlformats.org/drawingml/2006/main" noGrp="1"/>
          </p:cNvSpPr>
          <p:nvPr/>
        </p:nvSpPr>
        <p:spPr>
          <a:xfrm xmlns:a="http://schemas.openxmlformats.org/drawingml/2006/main">
            <a:off x="546735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19" name="station-evidence-1">
            <a:extLst xmlns:a="http://schemas.openxmlformats.org/drawingml/2006/main">
              <a:ext uri="{FF2B5EF4-FFF2-40B4-BE49-F238E27FC236}">
                <a16:creationId xmlns:a16="http://schemas.microsoft.com/office/drawing/2014/main" id="{FECED230-B316-4E90-838C-81BCA155369C}"/>
              </a:ext>
            </a:extLst>
          </p:cNvPr>
          <p:cNvSpPr>
            <a:spLocks xmlns:a="http://schemas.openxmlformats.org/drawingml/2006/main" noGrp="1"/>
          </p:cNvSpPr>
          <p:nvPr/>
        </p:nvSpPr>
        <p:spPr>
          <a:xfrm xmlns:a="http://schemas.openxmlformats.org/drawingml/2006/main">
            <a:off x="546735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Keep the original and revised sentence. Explain the change.</a:t>
            </a:r>
          </a:p>
          <a:p xmlns:a="http://schemas.openxmlformats.org/drawingml/2006/main">
            <a:pPr>
              <a:buNone/>
              <a:defRPr sz="1875" b="0">
                <a:solidFill>
                  <a:srgbClr val="F8EAD0"/>
                </a:solidFill>
                <a:latin typeface="Barlow Condensed"/>
                <a:ea typeface="Barlow Condensed"/>
                <a:cs typeface="Barlow Condensed"/>
              </a:defRPr>
            </a:pPr>
            <a:r>
              <a:rPr sz="1875"/>
              <a:t>Support: offer word tiles or dictation.</a:t>
            </a:r>
          </a:p>
        </p:txBody>
      </p:sp>
      <p:sp>
        <p:nvSpPr>
          <p:cNvPr id="20" name="station-title-2">
            <a:extLst xmlns:a="http://schemas.openxmlformats.org/drawingml/2006/main">
              <a:ext uri="{FF2B5EF4-FFF2-40B4-BE49-F238E27FC236}">
                <a16:creationId xmlns:a16="http://schemas.microsoft.com/office/drawing/2014/main" id="{B1DD8132-70F9-48A7-9F99-7D2D731965D8}"/>
              </a:ext>
            </a:extLst>
          </p:cNvPr>
          <p:cNvSpPr>
            <a:spLocks xmlns:a="http://schemas.openxmlformats.org/drawingml/2006/main" noGrp="1"/>
          </p:cNvSpPr>
          <p:nvPr/>
        </p:nvSpPr>
        <p:spPr>
          <a:xfrm xmlns:a="http://schemas.openxmlformats.org/drawingml/2006/main">
            <a:off x="1040130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ART</a:t>
            </a:r>
          </a:p>
        </p:txBody>
      </p:sp>
      <p:sp>
        <p:nvSpPr>
          <p:cNvPr id="21" name="station-teacher-2">
            <a:extLst xmlns:a="http://schemas.openxmlformats.org/drawingml/2006/main">
              <a:ext uri="{FF2B5EF4-FFF2-40B4-BE49-F238E27FC236}">
                <a16:creationId xmlns:a16="http://schemas.microsoft.com/office/drawing/2014/main" id="{E67643BA-A8FF-4720-A03A-18F9C651D358}"/>
              </a:ext>
            </a:extLst>
          </p:cNvPr>
          <p:cNvSpPr>
            <a:spLocks xmlns:a="http://schemas.openxmlformats.org/drawingml/2006/main" noGrp="1"/>
          </p:cNvSpPr>
          <p:nvPr/>
        </p:nvSpPr>
        <p:spPr>
          <a:xfrm xmlns:a="http://schemas.openxmlformats.org/drawingml/2006/main">
            <a:off x="1040130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Oobleck</a:t>
            </a:r>
          </a:p>
        </p:txBody>
      </p:sp>
      <p:sp>
        <p:nvSpPr>
          <p:cNvPr id="22" name="station-task-2">
            <a:extLst xmlns:a="http://schemas.openxmlformats.org/drawingml/2006/main">
              <a:ext uri="{FF2B5EF4-FFF2-40B4-BE49-F238E27FC236}">
                <a16:creationId xmlns:a16="http://schemas.microsoft.com/office/drawing/2014/main" id="{5A335D9B-0A92-4A4B-9DB3-9398F975EDA0}"/>
              </a:ext>
            </a:extLst>
          </p:cNvPr>
          <p:cNvSpPr>
            <a:spLocks xmlns:a="http://schemas.openxmlformats.org/drawingml/2006/main" noGrp="1"/>
          </p:cNvSpPr>
          <p:nvPr/>
        </p:nvSpPr>
        <p:spPr>
          <a:xfrm xmlns:a="http://schemas.openxmlformats.org/drawingml/2006/main">
            <a:off x="1040130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make a welcome emblem with two colors and one shape. They choose a mood or invent one for a character.</a:t>
            </a:r>
          </a:p>
        </p:txBody>
      </p:sp>
      <p:sp>
        <p:nvSpPr>
          <p:cNvPr id="23" name="question-label-2">
            <a:extLst xmlns:a="http://schemas.openxmlformats.org/drawingml/2006/main">
              <a:ext uri="{FF2B5EF4-FFF2-40B4-BE49-F238E27FC236}">
                <a16:creationId xmlns:a16="http://schemas.microsoft.com/office/drawing/2014/main" id="{E8AA3E45-4A98-4E51-96D9-F744CDC9FCC5}"/>
              </a:ext>
            </a:extLst>
          </p:cNvPr>
          <p:cNvSpPr>
            <a:spLocks xmlns:a="http://schemas.openxmlformats.org/drawingml/2006/main" noGrp="1"/>
          </p:cNvSpPr>
          <p:nvPr/>
        </p:nvSpPr>
        <p:spPr>
          <a:xfrm xmlns:a="http://schemas.openxmlformats.org/drawingml/2006/main">
            <a:off x="1040130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24" name="station-question-2">
            <a:extLst xmlns:a="http://schemas.openxmlformats.org/drawingml/2006/main">
              <a:ext uri="{FF2B5EF4-FFF2-40B4-BE49-F238E27FC236}">
                <a16:creationId xmlns:a16="http://schemas.microsoft.com/office/drawing/2014/main" id="{4B7CCE13-CFF1-4EFD-88E2-8BDA811A9298}"/>
              </a:ext>
            </a:extLst>
          </p:cNvPr>
          <p:cNvSpPr>
            <a:spLocks xmlns:a="http://schemas.openxmlformats.org/drawingml/2006/main" noGrp="1"/>
          </p:cNvSpPr>
          <p:nvPr/>
        </p:nvSpPr>
        <p:spPr>
          <a:xfrm xmlns:a="http://schemas.openxmlformats.org/drawingml/2006/main">
            <a:off x="1040130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“What choice should someone notice first, and why?”</a:t>
            </a:r>
          </a:p>
        </p:txBody>
      </p:sp>
      <p:sp>
        <p:nvSpPr>
          <p:cNvPr id="25" name="check-label-2">
            <a:extLst xmlns:a="http://schemas.openxmlformats.org/drawingml/2006/main">
              <a:ext uri="{FF2B5EF4-FFF2-40B4-BE49-F238E27FC236}">
                <a16:creationId xmlns:a16="http://schemas.microsoft.com/office/drawing/2014/main" id="{85D89AE5-B6D7-4095-8C33-4E86400175E7}"/>
              </a:ext>
            </a:extLst>
          </p:cNvPr>
          <p:cNvSpPr>
            <a:spLocks xmlns:a="http://schemas.openxmlformats.org/drawingml/2006/main" noGrp="1"/>
          </p:cNvSpPr>
          <p:nvPr/>
        </p:nvSpPr>
        <p:spPr>
          <a:xfrm xmlns:a="http://schemas.openxmlformats.org/drawingml/2006/main">
            <a:off x="1040130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26" name="station-evidence-2">
            <a:extLst xmlns:a="http://schemas.openxmlformats.org/drawingml/2006/main">
              <a:ext uri="{FF2B5EF4-FFF2-40B4-BE49-F238E27FC236}">
                <a16:creationId xmlns:a16="http://schemas.microsoft.com/office/drawing/2014/main" id="{CCE58EDA-0E01-4180-9445-623646301428}"/>
              </a:ext>
            </a:extLst>
          </p:cNvPr>
          <p:cNvSpPr>
            <a:spLocks xmlns:a="http://schemas.openxmlformats.org/drawingml/2006/main" noGrp="1"/>
          </p:cNvSpPr>
          <p:nvPr/>
        </p:nvSpPr>
        <p:spPr>
          <a:xfrm xmlns:a="http://schemas.openxmlformats.org/drawingml/2006/main">
            <a:off x="1040130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Share an emblem and explain one choice.</a:t>
            </a:r>
          </a:p>
          <a:p xmlns:a="http://schemas.openxmlformats.org/drawingml/2006/main">
            <a:pPr>
              <a:buNone/>
              <a:defRPr sz="1875" b="0">
                <a:solidFill>
                  <a:srgbClr val="F8EAD0"/>
                </a:solidFill>
                <a:latin typeface="Barlow Condensed"/>
                <a:ea typeface="Barlow Condensed"/>
                <a:cs typeface="Barlow Condensed"/>
              </a:defRPr>
            </a:pPr>
            <a:r>
              <a:rPr sz="1875"/>
              <a:t>Support: name colors and shapes, or describe a design aloud.</a:t>
            </a:r>
          </a:p>
        </p:txBody>
      </p:sp>
      <p:sp>
        <p:nvSpPr>
          <p:cNvPr id="27" name="">
            <a:extLst xmlns:a="http://schemas.openxmlformats.org/drawingml/2006/main">
              <a:ext uri="{FF2B5EF4-FFF2-40B4-BE49-F238E27FC236}">
                <a16:creationId xmlns:a16="http://schemas.microsoft.com/office/drawing/2014/main" id="{EA6713A8-9FA5-4A30-AA2C-B0EB71E3316B}"/>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8" name="footer">
            <a:extLst xmlns:a="http://schemas.openxmlformats.org/drawingml/2006/main">
              <a:ext uri="{FF2B5EF4-FFF2-40B4-BE49-F238E27FC236}">
                <a16:creationId xmlns:a16="http://schemas.microsoft.com/office/drawing/2014/main" id="{FDF721C6-9A85-4C64-B4AC-51252CA549F4}"/>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29" name="folio">
            <a:extLst xmlns:a="http://schemas.openxmlformats.org/drawingml/2006/main">
              <a:ext uri="{FF2B5EF4-FFF2-40B4-BE49-F238E27FC236}">
                <a16:creationId xmlns:a16="http://schemas.microsoft.com/office/drawing/2014/main" id="{E1F87FDC-F1A4-4C66-B72B-F025CA0A9A21}"/>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19</a:t>
            </a:r>
          </a:p>
        </p:txBody>
      </p:sp>
    </p:spTree>
    <p:extLst>
      <p:ext uri="{BB962C8B-B14F-4D97-AF65-F5344CB8AC3E}">
        <p14:creationId xmlns:p14="http://schemas.microsoft.com/office/powerpoint/2010/main" val="586913741"/>
      </p:ext>
    </p:extLst>
  </p:cSld>
</p:sld>
</file>

<file path=ppt/slides/slide20.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84D7A4FA-B251-41C8-8B82-5EA77975E512}"/>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04</a:t>
            </a:r>
          </a:p>
        </p:txBody>
      </p:sp>
      <p:sp>
        <p:nvSpPr>
          <p:cNvPr id="3" name="title">
            <a:extLst xmlns:a="http://schemas.openxmlformats.org/drawingml/2006/main">
              <a:ext uri="{FF2B5EF4-FFF2-40B4-BE49-F238E27FC236}">
                <a16:creationId xmlns:a16="http://schemas.microsoft.com/office/drawing/2014/main" id="{C91200C7-83A4-4FC7-A05B-5CCEB9D24A4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FACILITATION + EXIT CHECK</a:t>
            </a:r>
          </a:p>
        </p:txBody>
      </p:sp>
      <p:sp>
        <p:nvSpPr>
          <p:cNvPr id="4" name="subtitle">
            <a:extLst xmlns:a="http://schemas.openxmlformats.org/drawingml/2006/main">
              <a:ext uri="{FF2B5EF4-FFF2-40B4-BE49-F238E27FC236}">
                <a16:creationId xmlns:a16="http://schemas.microsoft.com/office/drawing/2014/main" id="{B1391233-8CBC-4B99-92AD-3FBD615A1CB1}"/>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A successful first day leaves students oriented, included and curious</a:t>
            </a:r>
          </a:p>
        </p:txBody>
      </p:sp>
      <p:sp>
        <p:nvSpPr>
          <p:cNvPr id="5" name="">
            <a:extLst xmlns:a="http://schemas.openxmlformats.org/drawingml/2006/main">
              <a:ext uri="{FF2B5EF4-FFF2-40B4-BE49-F238E27FC236}">
                <a16:creationId xmlns:a16="http://schemas.microsoft.com/office/drawing/2014/main" id="{0D5777FC-1538-4BE3-AE43-78FA6AF3D2C5}"/>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script-title">
            <a:extLst xmlns:a="http://schemas.openxmlformats.org/drawingml/2006/main">
              <a:ext uri="{FF2B5EF4-FFF2-40B4-BE49-F238E27FC236}">
                <a16:creationId xmlns:a16="http://schemas.microsoft.com/office/drawing/2014/main" id="{540B0527-AE2C-402B-B88B-09320F22C7A7}"/>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Opening language</a:t>
            </a:r>
          </a:p>
        </p:txBody>
      </p:sp>
      <p:sp>
        <p:nvSpPr>
          <p:cNvPr id="7" name="script">
            <a:extLst xmlns:a="http://schemas.openxmlformats.org/drawingml/2006/main">
              <a:ext uri="{FF2B5EF4-FFF2-40B4-BE49-F238E27FC236}">
                <a16:creationId xmlns:a16="http://schemas.microsoft.com/office/drawing/2014/main" id="{39F2517F-36DF-4E9C-B952-70F69C925038}"/>
              </a:ext>
            </a:extLst>
          </p:cNvPr>
          <p:cNvSpPr>
            <a:spLocks xmlns:a="http://schemas.openxmlformats.org/drawingml/2006/main" noGrp="1"/>
          </p:cNvSpPr>
          <p:nvPr/>
        </p:nvSpPr>
        <p:spPr>
          <a:xfrm xmlns:a="http://schemas.openxmlformats.org/drawingml/2006/main">
            <a:off x="533400" y="2933700"/>
            <a:ext cx="6667500" cy="3038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Lich: “Welcome. You may speak, type or point. You can pause at any time.”</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Mimic: “We will practice a change you can reverse. Try one move, then find Undo.”</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Spider: “A break is always an option. Tell the room facilitator if you need help.”</a:t>
            </a:r>
          </a:p>
        </p:txBody>
      </p:sp>
      <p:sp>
        <p:nvSpPr>
          <p:cNvPr id="8" name="assessment-title">
            <a:extLst xmlns:a="http://schemas.openxmlformats.org/drawingml/2006/main">
              <a:ext uri="{FF2B5EF4-FFF2-40B4-BE49-F238E27FC236}">
                <a16:creationId xmlns:a16="http://schemas.microsoft.com/office/drawing/2014/main" id="{A06D5749-FB80-4291-9AB3-DEB78CE655B6}"/>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Three individual checks</a:t>
            </a:r>
          </a:p>
        </p:txBody>
      </p:sp>
      <p:sp>
        <p:nvSpPr>
          <p:cNvPr id="9" name="assessment">
            <a:extLst xmlns:a="http://schemas.openxmlformats.org/drawingml/2006/main">
              <a:ext uri="{FF2B5EF4-FFF2-40B4-BE49-F238E27FC236}">
                <a16:creationId xmlns:a16="http://schemas.microsoft.com/office/drawing/2014/main" id="{6BB22347-B710-4C02-AB34-206BE62C6288}"/>
              </a:ext>
            </a:extLst>
          </p:cNvPr>
          <p:cNvSpPr>
            <a:spLocks xmlns:a="http://schemas.openxmlformats.org/drawingml/2006/main" noGrp="1"/>
          </p:cNvSpPr>
          <p:nvPr/>
        </p:nvSpPr>
        <p:spPr>
          <a:xfrm xmlns:a="http://schemas.openxmlformats.org/drawingml/2006/main">
            <a:off x="7905750" y="2933700"/>
            <a:ext cx="6667500" cy="3038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1   Controls: show or explain Pause, Help and Undo.</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2   Reasoning: share one passport choice and the evidence or intention behind it.</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3   Next step: ask one question or name one teacher or subject to explore.</a:t>
            </a:r>
          </a:p>
        </p:txBody>
      </p:sp>
      <p:sp>
        <p:nvSpPr>
          <p:cNvPr id="10" name="response-title">
            <a:extLst xmlns:a="http://schemas.openxmlformats.org/drawingml/2006/main">
              <a:ext uri="{FF2B5EF4-FFF2-40B4-BE49-F238E27FC236}">
                <a16:creationId xmlns:a16="http://schemas.microsoft.com/office/drawing/2014/main" id="{70FE9353-E9C1-4480-8384-319487B6B80B}"/>
              </a:ext>
            </a:extLst>
          </p:cNvPr>
          <p:cNvSpPr>
            <a:spLocks xmlns:a="http://schemas.openxmlformats.org/drawingml/2006/main" noGrp="1"/>
          </p:cNvSpPr>
          <p:nvPr/>
        </p:nvSpPr>
        <p:spPr>
          <a:xfrm xmlns:a="http://schemas.openxmlformats.org/drawingml/2006/main">
            <a:off x="533400" y="67056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When a learner needs support</a:t>
            </a:r>
          </a:p>
        </p:txBody>
      </p:sp>
      <p:sp>
        <p:nvSpPr>
          <p:cNvPr id="11" name="response">
            <a:extLst xmlns:a="http://schemas.openxmlformats.org/drawingml/2006/main">
              <a:ext uri="{FF2B5EF4-FFF2-40B4-BE49-F238E27FC236}">
                <a16:creationId xmlns:a16="http://schemas.microsoft.com/office/drawing/2014/main" id="{530BAE32-84B0-4B91-9FE4-2C3EEA17F4B6}"/>
              </a:ext>
            </a:extLst>
          </p:cNvPr>
          <p:cNvSpPr>
            <a:spLocks xmlns:a="http://schemas.openxmlformats.org/drawingml/2006/main" noGrp="1"/>
          </p:cNvSpPr>
          <p:nvPr/>
        </p:nvSpPr>
        <p:spPr>
          <a:xfrm xmlns:a="http://schemas.openxmlformats.org/drawingml/2006/main">
            <a:off x="533400" y="7334250"/>
            <a:ext cx="666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Offer a model, then invite another try. If discomfort appears, stop the VR activity and offer the same task on a screen or paper. Give a private follow-up for any control the student could not find.</a:t>
            </a:r>
          </a:p>
        </p:txBody>
      </p:sp>
      <p:sp>
        <p:nvSpPr>
          <p:cNvPr id="12" name="record-title">
            <a:extLst xmlns:a="http://schemas.openxmlformats.org/drawingml/2006/main">
              <a:ext uri="{FF2B5EF4-FFF2-40B4-BE49-F238E27FC236}">
                <a16:creationId xmlns:a16="http://schemas.microsoft.com/office/drawing/2014/main" id="{FD45167F-B6F2-4F31-86BB-C28FC8A84286}"/>
              </a:ext>
            </a:extLst>
          </p:cNvPr>
          <p:cNvSpPr>
            <a:spLocks xmlns:a="http://schemas.openxmlformats.org/drawingml/2006/main" noGrp="1"/>
          </p:cNvSpPr>
          <p:nvPr/>
        </p:nvSpPr>
        <p:spPr>
          <a:xfrm xmlns:a="http://schemas.openxmlformats.org/drawingml/2006/main">
            <a:off x="7905750" y="67056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Teacher record</a:t>
            </a:r>
          </a:p>
        </p:txBody>
      </p:sp>
      <p:sp>
        <p:nvSpPr>
          <p:cNvPr id="13" name="record">
            <a:extLst xmlns:a="http://schemas.openxmlformats.org/drawingml/2006/main">
              <a:ext uri="{FF2B5EF4-FFF2-40B4-BE49-F238E27FC236}">
                <a16:creationId xmlns:a16="http://schemas.microsoft.com/office/drawing/2014/main" id="{4C8F3431-3933-43E5-897E-4936520F2E44}"/>
              </a:ext>
            </a:extLst>
          </p:cNvPr>
          <p:cNvSpPr>
            <a:spLocks xmlns:a="http://schemas.openxmlformats.org/drawingml/2006/main" noGrp="1"/>
          </p:cNvSpPr>
          <p:nvPr/>
        </p:nvSpPr>
        <p:spPr>
          <a:xfrm xmlns:a="http://schemas.openxmlformats.org/drawingml/2006/main">
            <a:off x="7905750" y="7334250"/>
            <a:ext cx="666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Mark each check as independent, with support or follow-up needed. Use observations to plan the next session. Keep public sharing optional and avoid comparing speed or artistic skill.</a:t>
            </a:r>
          </a:p>
        </p:txBody>
      </p:sp>
      <p:sp>
        <p:nvSpPr>
          <p:cNvPr id="14" name="">
            <a:extLst xmlns:a="http://schemas.openxmlformats.org/drawingml/2006/main">
              <a:ext uri="{FF2B5EF4-FFF2-40B4-BE49-F238E27FC236}">
                <a16:creationId xmlns:a16="http://schemas.microsoft.com/office/drawing/2014/main" id="{35D18B1A-7064-4A9A-A4DD-A5B9CE603002}"/>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26048F7F-45EE-4ACD-BE39-29A90BCA3926}"/>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9AC75B54-304A-4C08-9366-C64ED6CDB5EC}"/>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20</a:t>
            </a:r>
          </a:p>
        </p:txBody>
      </p:sp>
    </p:spTree>
    <p:extLst>
      <p:ext uri="{BB962C8B-B14F-4D97-AF65-F5344CB8AC3E}">
        <p14:creationId xmlns:p14="http://schemas.microsoft.com/office/powerpoint/2010/main" val="1644762087"/>
      </p:ext>
    </p:extLst>
  </p:cSld>
</p:sld>
</file>

<file path=ppt/slides/slide2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4E71B0E-265A-4BF2-BFFA-412CF967A2B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REFERENCE SHEET</a:t>
            </a:r>
          </a:p>
        </p:txBody>
      </p:sp>
      <p:sp>
        <p:nvSpPr>
          <p:cNvPr id="3" name="title">
            <a:extLst xmlns:a="http://schemas.openxmlformats.org/drawingml/2006/main">
              <a:ext uri="{FF2B5EF4-FFF2-40B4-BE49-F238E27FC236}">
                <a16:creationId xmlns:a16="http://schemas.microsoft.com/office/drawing/2014/main" id="{9FBBA594-254D-49A7-844D-E0F5918553E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SOURCE REGISTER</a:t>
            </a:r>
          </a:p>
        </p:txBody>
      </p:sp>
      <p:sp>
        <p:nvSpPr>
          <p:cNvPr id="4" name="subtitle">
            <a:extLst xmlns:a="http://schemas.openxmlformats.org/drawingml/2006/main">
              <a:ext uri="{FF2B5EF4-FFF2-40B4-BE49-F238E27FC236}">
                <a16:creationId xmlns:a16="http://schemas.microsoft.com/office/drawing/2014/main" id="{8AEC3473-6B38-4549-A9C2-9C0D1B3DE291}"/>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Roster facts follow the project documents. Performance and lessons are creative proposals.</a:t>
            </a:r>
          </a:p>
        </p:txBody>
      </p:sp>
      <p:sp>
        <p:nvSpPr>
          <p:cNvPr id="5" name="">
            <a:extLst xmlns:a="http://schemas.openxmlformats.org/drawingml/2006/main">
              <a:ext uri="{FF2B5EF4-FFF2-40B4-BE49-F238E27FC236}">
                <a16:creationId xmlns:a16="http://schemas.microsoft.com/office/drawing/2014/main" id="{1773B1ED-F06E-426D-9381-542BB17016C6}"/>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project-title">
            <a:extLst xmlns:a="http://schemas.openxmlformats.org/drawingml/2006/main">
              <a:ext uri="{FF2B5EF4-FFF2-40B4-BE49-F238E27FC236}">
                <a16:creationId xmlns:a16="http://schemas.microsoft.com/office/drawing/2014/main" id="{1FB5D56C-DF09-4802-B4BE-3C3140416D29}"/>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Project references</a:t>
            </a:r>
          </a:p>
        </p:txBody>
      </p:sp>
      <p:sp>
        <p:nvSpPr>
          <p:cNvPr id="7" name="project-sources">
            <a:extLst xmlns:a="http://schemas.openxmlformats.org/drawingml/2006/main">
              <a:ext uri="{FF2B5EF4-FFF2-40B4-BE49-F238E27FC236}">
                <a16:creationId xmlns:a16="http://schemas.microsoft.com/office/drawing/2014/main" id="{B8A0D1CB-6E4E-4C6D-A468-F9A3DE7501EA}"/>
              </a:ext>
            </a:extLst>
          </p:cNvPr>
          <p:cNvSpPr>
            <a:spLocks xmlns:a="http://schemas.openxmlformats.org/drawingml/2006/main" noGrp="1"/>
          </p:cNvSpPr>
          <p:nvPr/>
        </p:nvSpPr>
        <p:spPr>
          <a:xfrm xmlns:a="http://schemas.openxmlformats.org/drawingml/2006/main">
            <a:off x="533400" y="2943225"/>
            <a:ext cx="6667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Teacher List</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13 roles, subjects, genders, classes and classrooms</a:t>
            </a:r>
          </a:p>
          <a:p xmlns:a="http://schemas.openxmlformats.org/drawingml/2006/main">
            <a:pPr>
              <a:lnSpc>
                <a:spcPct val="108000"/>
              </a:lnSpc>
              <a:buNone/>
              <a:defRPr sz="2250" b="0">
                <a:solidFill>
                  <a:srgbClr val="F8EAD0"/>
                </a:solidFill>
                <a:latin typeface="Barlow Condensed"/>
                <a:ea typeface="Barlow Condensed"/>
                <a:cs typeface="Barlow Condensed"/>
              </a:defRPr>
            </a:pP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Individual character line drawings</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Revised art from the artist’s sketches</a:t>
            </a:r>
          </a:p>
          <a:p xmlns:a="http://schemas.openxmlformats.org/drawingml/2006/main">
            <a:pPr>
              <a:lnSpc>
                <a:spcPct val="108000"/>
              </a:lnSpc>
              <a:buNone/>
              <a:defRPr sz="2250" b="0">
                <a:solidFill>
                  <a:srgbClr val="F8EAD0"/>
                </a:solidFill>
                <a:latin typeface="Barlow Condensed"/>
                <a:ea typeface="Barlow Condensed"/>
                <a:cs typeface="Barlow Condensed"/>
              </a:defRPr>
            </a:pP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Current gender continuity</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Language Arts and PE: female, she/her</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Art: non-binary, they/them</a:t>
            </a:r>
          </a:p>
        </p:txBody>
      </p:sp>
      <p:sp>
        <p:nvSpPr>
          <p:cNvPr id="8" name="external-title">
            <a:extLst xmlns:a="http://schemas.openxmlformats.org/drawingml/2006/main">
              <a:ext uri="{FF2B5EF4-FFF2-40B4-BE49-F238E27FC236}">
                <a16:creationId xmlns:a16="http://schemas.microsoft.com/office/drawing/2014/main" id="{FF3AB9E4-1807-47FC-815B-424CF283833F}"/>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Voice service references</a:t>
            </a:r>
          </a:p>
        </p:txBody>
      </p:sp>
      <p:sp>
        <p:nvSpPr>
          <p:cNvPr id="9" name="external-sources">
            <a:extLst xmlns:a="http://schemas.openxmlformats.org/drawingml/2006/main">
              <a:ext uri="{FF2B5EF4-FFF2-40B4-BE49-F238E27FC236}">
                <a16:creationId xmlns:a16="http://schemas.microsoft.com/office/drawing/2014/main" id="{8199BDD9-0FB8-477E-95BA-AB8D29FFD853}"/>
              </a:ext>
            </a:extLst>
          </p:cNvPr>
          <p:cNvSpPr>
            <a:spLocks xmlns:a="http://schemas.openxmlformats.org/drawingml/2006/main" noGrp="1"/>
          </p:cNvSpPr>
          <p:nvPr/>
        </p:nvSpPr>
        <p:spPr>
          <a:xfrm xmlns:a="http://schemas.openxmlformats.org/drawingml/2006/main">
            <a:off x="7905750" y="2943225"/>
            <a:ext cx="6667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Voice Design documentation</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Prompt structure, audition candidates and saved voices</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pricing</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Creator monthly price and custom voice capacity</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billing documentation</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Commercial use on paid plans</a:t>
            </a:r>
          </a:p>
        </p:txBody>
      </p:sp>
      <p:sp>
        <p:nvSpPr>
          <p:cNvPr id="10" name="scope-title">
            <a:extLst xmlns:a="http://schemas.openxmlformats.org/drawingml/2006/main">
              <a:ext uri="{FF2B5EF4-FFF2-40B4-BE49-F238E27FC236}">
                <a16:creationId xmlns:a16="http://schemas.microsoft.com/office/drawing/2014/main" id="{E4C90FB6-8FC0-4B86-8B0C-2150212C7226}"/>
              </a:ext>
            </a:extLst>
          </p:cNvPr>
          <p:cNvSpPr>
            <a:spLocks xmlns:a="http://schemas.openxmlformats.org/drawingml/2006/main" noGrp="1"/>
          </p:cNvSpPr>
          <p:nvPr/>
        </p:nvSpPr>
        <p:spPr>
          <a:xfrm xmlns:a="http://schemas.openxmlformats.org/drawingml/2006/main">
            <a:off x="533400" y="7143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Proposal status</a:t>
            </a:r>
          </a:p>
        </p:txBody>
      </p:sp>
      <p:sp>
        <p:nvSpPr>
          <p:cNvPr id="11" name="scope">
            <a:extLst xmlns:a="http://schemas.openxmlformats.org/drawingml/2006/main">
              <a:ext uri="{FF2B5EF4-FFF2-40B4-BE49-F238E27FC236}">
                <a16:creationId xmlns:a16="http://schemas.microsoft.com/office/drawing/2014/main" id="{CDCEB6A5-C972-4387-8F55-82563F33D5F3}"/>
              </a:ext>
            </a:extLst>
          </p:cNvPr>
          <p:cNvSpPr>
            <a:spLocks xmlns:a="http://schemas.openxmlformats.org/drawingml/2006/main" noGrp="1"/>
          </p:cNvSpPr>
          <p:nvPr/>
        </p:nvSpPr>
        <p:spPr>
          <a:xfrm xmlns:a="http://schemas.openxmlformats.org/drawingml/2006/main">
            <a:off x="533400" y="7715250"/>
            <a:ext cx="666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Voices, delivery targets, animations, test scenes and lesson activities are new creative direction. The art is concept imagery. Controls and animations require a working prototype.</a:t>
            </a:r>
          </a:p>
        </p:txBody>
      </p:sp>
      <p:sp>
        <p:nvSpPr>
          <p:cNvPr id="12" name="date-title">
            <a:extLst xmlns:a="http://schemas.openxmlformats.org/drawingml/2006/main">
              <a:ext uri="{FF2B5EF4-FFF2-40B4-BE49-F238E27FC236}">
                <a16:creationId xmlns:a16="http://schemas.microsoft.com/office/drawing/2014/main" id="{12A2AAB6-249B-40D0-9062-458DD3693598}"/>
              </a:ext>
            </a:extLst>
          </p:cNvPr>
          <p:cNvSpPr>
            <a:spLocks xmlns:a="http://schemas.openxmlformats.org/drawingml/2006/main" noGrp="1"/>
          </p:cNvSpPr>
          <p:nvPr/>
        </p:nvSpPr>
        <p:spPr>
          <a:xfrm xmlns:a="http://schemas.openxmlformats.org/drawingml/2006/main">
            <a:off x="7905750" y="7143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Reference date</a:t>
            </a:r>
          </a:p>
        </p:txBody>
      </p:sp>
      <p:sp>
        <p:nvSpPr>
          <p:cNvPr id="13" name="date">
            <a:extLst xmlns:a="http://schemas.openxmlformats.org/drawingml/2006/main">
              <a:ext uri="{FF2B5EF4-FFF2-40B4-BE49-F238E27FC236}">
                <a16:creationId xmlns:a16="http://schemas.microsoft.com/office/drawing/2014/main" id="{1EAC710C-7080-4530-B5B7-70A4343042F3}"/>
              </a:ext>
            </a:extLst>
          </p:cNvPr>
          <p:cNvSpPr>
            <a:spLocks xmlns:a="http://schemas.openxmlformats.org/drawingml/2006/main" noGrp="1"/>
          </p:cNvSpPr>
          <p:nvPr/>
        </p:nvSpPr>
        <p:spPr>
          <a:xfrm xmlns:a="http://schemas.openxmlformats.org/drawingml/2006/main">
            <a:off x="7905750" y="7715250"/>
            <a:ext cx="666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Service information checked 29 October 2026. Source links and roster notes appear in the relevant slide notes. Confirm current plan terms before production.</a:t>
            </a:r>
          </a:p>
        </p:txBody>
      </p:sp>
      <p:sp>
        <p:nvSpPr>
          <p:cNvPr id="14" name="">
            <a:extLst xmlns:a="http://schemas.openxmlformats.org/drawingml/2006/main">
              <a:ext uri="{FF2B5EF4-FFF2-40B4-BE49-F238E27FC236}">
                <a16:creationId xmlns:a16="http://schemas.microsoft.com/office/drawing/2014/main" id="{41DD5E68-8A6B-472A-94CC-28B8FEC20E27}"/>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4CF36283-C127-4BBF-A1EF-A35D09876643}"/>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9CE583B5-7753-48B7-985F-3E0B4309019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21</a:t>
            </a:r>
          </a:p>
        </p:txBody>
      </p:sp>
    </p:spTree>
    <p:extLst>
      <p:ext uri="{BB962C8B-B14F-4D97-AF65-F5344CB8AC3E}">
        <p14:creationId xmlns:p14="http://schemas.microsoft.com/office/powerpoint/2010/main" val="15643953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2026-10-29T23:46:36.7110000Z</dcterms:created>
  <dcterms:modified xsi:type="dcterms:W3CDTF">2026-10-29T23:46:36.7110000Z</dcterms:modified>
</coreProperties>
</file>